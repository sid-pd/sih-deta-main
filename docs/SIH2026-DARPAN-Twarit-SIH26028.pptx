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Title &amp; Team Deliverables</a:t>
            </a:r>
          </a:p>
          <a:p>
            <a:r>
              <a:t>• Problem Statement ID: SIH26028</a:t>
            </a:r>
          </a:p>
          <a:p>
            <a:r>
              <a:t>• Title: Dynamic Forecast of Expected Time of Arrival (ETA) for Coaching Trains</a:t>
            </a:r>
          </a:p>
          <a:p>
            <a:r>
              <a:t>• Organization: Ministry of Railways (MIC)</a:t>
            </a:r>
          </a:p>
          <a:p>
            <a:r>
              <a:t>• Team: Twarit (ID: 131076)</a:t>
            </a:r>
          </a:p>
          <a:p>
            <a:r>
              <a:t>• Highlights: 1.68 GB 6-DB Rail Data Lake, 8,990 stations, 704 cabins, 70% median error cut (4.93m -&gt; 1.49m).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Core Idea &amp; Solution Mindmap</a:t>
            </a:r>
          </a:p>
          <a:p>
            <a:r>
              <a:t>• Replaces static schedule + delay - buffer with a 2-Pass Hybrid Engine (Quantile GBDT AI + Space-Time DAG physics).</a:t>
            </a:r>
          </a:p>
          <a:p>
            <a:r>
              <a:t>• Includes Mindmap showing 6 radial capabilities: P10/P50/P90 quantile drift, 704 cabins outer hold, COA 6-tier overtaking, G&amp;SR fog/heat rules, self-growing feedback DB, and 1-click manual accident overrides with 25kV detours.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Technical Approach &amp; Data Flow Diagram (DFD)</a:t>
            </a:r>
          </a:p>
          <a:p>
            <a:r>
              <a:t>• Left: 6-layer technology stack and live 12301 Howrah-New Delhi Rajdhani trajectory fan chart.</a:t>
            </a:r>
          </a:p>
          <a:p>
            <a:r>
              <a:t>• Right: Level 1/2 Data Flow Diagram (DFD) with 4 external stakeholder entities, cloud feeds, 1.68 GB database cylinder, 3 decision diamonds (Delay &gt; 5m?, Platform Clash?, Accident/Block?), and continuous feedback flywheel.</a:t>
            </a:r>
          </a:p>
          <a:p>
            <a:r>
              <a:t>• Bottom: 6-stage linear process flow ribbon.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Feasibility &amp; Economic Viability</a:t>
            </a:r>
          </a:p>
          <a:p>
            <a:r>
              <a:t>• Technical Feasibility: Built entirely on 1.68 GB public rail data; runs in &lt;18ms on standard CPU.</a:t>
            </a:r>
          </a:p>
          <a:p>
            <a:r>
              <a:t>• Financial ROI: Zero locomotive GPS/trackside hardware capex (saving Indian Railways ₹120+ Crores); &lt; ₹15,000/month cloud opex.</a:t>
            </a:r>
          </a:p>
          <a:p>
            <a:r>
              <a:t>• Operational/Fuel ROI: Prevents unscheduled outer-signal stops of 24-coach rakes (saving 150-200 kWh traction power / 35-50L diesel per stop).</a:t>
            </a:r>
          </a:p>
          <a:p>
            <a:r>
              <a:t>• 4 Real Railway Challenges paired 1:1 with engineering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Impact and Benefits</a:t>
            </a:r>
          </a:p>
          <a:p>
            <a:r>
              <a:t>• 4 Stakeholder views: Passengers (P10/P50/P90 ETA &amp; PNR), Station Masters (Zero-Clash 5m buffer), Controllers (Dispatch cockpit), and Self-Learning API.</a:t>
            </a:r>
          </a:p>
          <a:p>
            <a:r>
              <a:t>• 3-Pillar Macro Impact: Social (2.4 Cr daily passengers), Economic (₹120+ Cr saved), Environmental (outer-signal stop energy cut).</a:t>
            </a:r>
          </a:p>
          <a:p>
            <a:r>
              <a:t>• Competitor Benchmark Table: DARPAN beats existing formulas, consumer apps, and academic GNNs 6/6.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Research, Clickable References &amp; Visual Analytics</a:t>
            </a:r>
          </a:p>
          <a:p>
            <a:r>
              <a:t>• Verified academic &amp; government citations (IIT Kharagpur RSTGCN 2024, CAG Report 22 of 2021, Indian Railways G&amp;SR, LightGBM/CQR).</a:t>
            </a:r>
          </a:p>
          <a:p>
            <a:r>
              <a:t>• Scannable QR code linking to live working web portal (https://team-twarit-sih26028.vercel.app).</a:t>
            </a:r>
          </a:p>
          <a:p>
            <a:r>
              <a:t>• Visual Graph 1: Self-Growing DB Flywheel curve showing error decaying 4.93m -&gt; 1.49m as DB grows to 3.0M+ rows.</a:t>
            </a:r>
          </a:p>
          <a:p>
            <a:r>
              <a:t>• Visual Graph 2: Top learned delay drivers feature importance chart + 1.68 GB 6-DB storage distribution 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team-twarit-sih26028.vercel.app" TargetMode="External"/><Relationship Id="rId5" Type="http://schemas.openxmlformats.org/officeDocument/2006/relationships/hyperlink" Target="https://drive.google.com/file/d/1Qz0DTqZIDW14FyF7VVWAgwwtTXFZS6QE" TargetMode="Externa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hyperlink" Target="https://team-twarit-sih26028.vercel.app" TargetMode="External"/><Relationship Id="rId5" Type="http://schemas.openxmlformats.org/officeDocument/2006/relationships/hyperlink" Target="https://drive.google.com/file/d/1Qz0DTqZIDW14FyF7VVWAgwwtTXFZS6QE" TargetMode="External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xagon 1"/>
          <p:cNvSpPr/>
          <p:nvPr/>
        </p:nvSpPr>
        <p:spPr>
          <a:xfrm>
            <a:off x="4572000" y="1238250"/>
            <a:ext cx="3619500" cy="4190999"/>
          </a:xfrm>
          <a:prstGeom prst="hexagon">
            <a:avLst/>
          </a:prstGeom>
          <a:solidFill>
            <a:srgbClr val="F1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95250"/>
            <a:ext cx="1066800" cy="742950"/>
          </a:xfrm>
          <a:prstGeom prst="rect">
            <a:avLst/>
          </a:prstGeom>
        </p:spPr>
      </p:pic>
      <p:pic>
        <p:nvPicPr>
          <p:cNvPr id="4" name="Picture 3" descr="embl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5" y="1905000"/>
            <a:ext cx="200025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209550"/>
            <a:ext cx="12192000" cy="47625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3075" b="1">
                <a:solidFill>
                  <a:srgbClr val="173F70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66750"/>
            <a:ext cx="12192000" cy="428625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2550" b="1">
                <a:solidFill>
                  <a:srgbClr val="0F172A"/>
                </a:solidFill>
                <a:latin typeface="Segoe UI"/>
              </a:defRPr>
            </a:pPr>
            <a:r>
              <a:t>DARPAN (SIH-DETA)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6500" y="1123950"/>
            <a:ext cx="7239000" cy="323850"/>
          </a:xfrm>
          <a:prstGeom prst="round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275" b="1">
                <a:solidFill>
                  <a:srgbClr val="FFFFFF"/>
                </a:solidFill>
                <a:latin typeface="Segoe UI"/>
              </a:defRPr>
            </a:pPr>
            <a:r>
              <a:t>Self-Growing Hybrid AI &amp; Railway Physics Engine for Coaching Train ETA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1714500"/>
            <a:ext cx="5048250" cy="24765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000"/>
              </a:spcAft>
            </a:pPr>
            <a:r>
              <a:rPr b="1" sz="1575">
                <a:solidFill>
                  <a:srgbClr val="0F172A"/>
                </a:solidFill>
                <a:latin typeface="Segoe UI"/>
              </a:rPr>
              <a:t>• Problem Statement ID – </a:t>
            </a:r>
            <a:r>
              <a:rPr b="1" sz="1575">
                <a:solidFill>
                  <a:srgbClr val="173F70"/>
                </a:solidFill>
                <a:latin typeface="Segoe UI"/>
              </a:rPr>
              <a:t>SIH26028</a:t>
            </a:r>
          </a:p>
          <a:p>
            <a:pPr>
              <a:spcAft>
                <a:spcPts val="1000"/>
              </a:spcAft>
            </a:pPr>
            <a:r>
              <a:rPr b="1" sz="1575">
                <a:solidFill>
                  <a:srgbClr val="0F172A"/>
                </a:solidFill>
                <a:latin typeface="Segoe UI"/>
              </a:rPr>
              <a:t>• Problem Statement Title – </a:t>
            </a:r>
            <a:r>
              <a:rPr b="1" sz="1575">
                <a:solidFill>
                  <a:srgbClr val="173F70"/>
                </a:solidFill>
                <a:latin typeface="Segoe UI"/>
              </a:rPr>
              <a:t>Dynamic Forecast of Expected Time of Arrival (ETA) for Coaching Trains</a:t>
            </a:r>
          </a:p>
          <a:p>
            <a:pPr>
              <a:spcAft>
                <a:spcPts val="1000"/>
              </a:spcAft>
            </a:pPr>
            <a:r>
              <a:rPr b="1" sz="1575">
                <a:solidFill>
                  <a:srgbClr val="0F172A"/>
                </a:solidFill>
                <a:latin typeface="Segoe UI"/>
              </a:rPr>
              <a:t>• Organization / Dept – </a:t>
            </a:r>
            <a:r>
              <a:rPr b="1" sz="1575">
                <a:solidFill>
                  <a:srgbClr val="173F70"/>
                </a:solidFill>
                <a:latin typeface="Segoe UI"/>
              </a:rPr>
              <a:t>Ministry of Railways (MIC)</a:t>
            </a:r>
          </a:p>
          <a:p>
            <a:pPr>
              <a:spcAft>
                <a:spcPts val="1000"/>
              </a:spcAft>
            </a:pPr>
            <a:r>
              <a:rPr b="1" sz="1575">
                <a:solidFill>
                  <a:srgbClr val="0F172A"/>
                </a:solidFill>
                <a:latin typeface="Segoe UI"/>
              </a:rPr>
              <a:t>• Theme – </a:t>
            </a:r>
            <a:r>
              <a:rPr b="1" sz="1575">
                <a:solidFill>
                  <a:srgbClr val="173F70"/>
                </a:solidFill>
                <a:latin typeface="Segoe UI"/>
              </a:rPr>
              <a:t>Smart Automation | Category – Software</a:t>
            </a:r>
          </a:p>
          <a:p>
            <a:pPr>
              <a:spcAft>
                <a:spcPts val="1000"/>
              </a:spcAft>
            </a:pPr>
            <a:r>
              <a:rPr b="1" sz="1575">
                <a:solidFill>
                  <a:srgbClr val="0F172A"/>
                </a:solidFill>
                <a:latin typeface="Segoe UI"/>
              </a:rPr>
              <a:t>• Team ID – </a:t>
            </a:r>
            <a:r>
              <a:rPr b="1" sz="1575">
                <a:solidFill>
                  <a:srgbClr val="173F70"/>
                </a:solidFill>
                <a:latin typeface="Segoe UI"/>
              </a:rPr>
              <a:t>131076 | Team Name – Twarit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86750" y="1666875"/>
            <a:ext cx="3667125" cy="247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86750" y="1666875"/>
            <a:ext cx="3667125" cy="47625"/>
          </a:xfrm>
          <a:prstGeom prst="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1999" y="1733550"/>
            <a:ext cx="2428875" cy="2286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b="1" sz="765">
                <a:solidFill>
                  <a:srgbClr val="173F70"/>
                </a:solidFill>
                <a:latin typeface="Segoe UI"/>
              </a:defRPr>
            </a:pPr>
            <a:r>
              <a:t>👥 TEAM TWARIT — ENGINEERING DELIVERABLES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53750" y="1752600"/>
            <a:ext cx="904875" cy="1905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12">
                <a:solidFill>
                  <a:srgbClr val="15803D"/>
                </a:solidFill>
                <a:latin typeface="Consolas"/>
              </a:defRPr>
            </a:pPr>
            <a:r>
              <a:t>6-MEMBER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81999" y="2047875"/>
            <a:ext cx="1066800" cy="209550"/>
          </a:xfrm>
          <a:prstGeom prst="round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12">
                <a:solidFill>
                  <a:srgbClr val="FFFFFF"/>
                </a:solidFill>
                <a:latin typeface="Segoe UI"/>
              </a:defRPr>
            </a:pPr>
            <a:r>
              <a:t>Lead &amp; 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0" y="2028825"/>
            <a:ext cx="2381250" cy="3619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10">
                <a:solidFill>
                  <a:srgbClr val="0F172A"/>
                </a:solidFill>
                <a:latin typeface="Segoe UI"/>
              </a:rPr>
              <a:t>2-Pass Hybrid Engine</a:t>
            </a:r>
            <a:r>
              <a:rPr b="0" sz="810">
                <a:solidFill>
                  <a:srgbClr val="0F172A"/>
                </a:solidFill>
                <a:latin typeface="Segoe UI"/>
              </a:rPr>
              <a:t>, Space-Time DAG &amp; Zero-Clash Platform IntervalTree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1999" y="2447925"/>
            <a:ext cx="1066800" cy="20955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12">
                <a:solidFill>
                  <a:srgbClr val="FFFFFF"/>
                </a:solidFill>
                <a:latin typeface="Segoe UI"/>
              </a:defRPr>
            </a:pPr>
            <a:r>
              <a:t>AI / ML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0" y="2428875"/>
            <a:ext cx="2381250" cy="3619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10">
                <a:solidFill>
                  <a:srgbClr val="0F172A"/>
                </a:solidFill>
                <a:latin typeface="Segoe UI"/>
              </a:rPr>
              <a:t>31-Feature Quantile GBDT</a:t>
            </a:r>
            <a:r>
              <a:rPr b="0" sz="810">
                <a:solidFill>
                  <a:srgbClr val="0F172A"/>
                </a:solidFill>
                <a:latin typeface="Segoe UI"/>
              </a:rPr>
              <a:t> (P10/P50/P90) &amp; Delay-Jump Classifier (0.92 AUC)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1999" y="2847975"/>
            <a:ext cx="1066800" cy="209550"/>
          </a:xfrm>
          <a:prstGeom prst="roundRect">
            <a:avLst/>
          </a:prstGeom>
          <a:solidFill>
            <a:srgbClr val="59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12">
                <a:solidFill>
                  <a:srgbClr val="FFFFFF"/>
                </a:solidFill>
                <a:latin typeface="Segoe UI"/>
              </a:defRPr>
            </a:pPr>
            <a:r>
              <a:t>Data &amp; Scraper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5000" y="2828925"/>
            <a:ext cx="2381250" cy="3619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10">
                <a:solidFill>
                  <a:srgbClr val="0F172A"/>
                </a:solidFill>
                <a:latin typeface="Segoe UI"/>
              </a:rPr>
              <a:t>1.68 GB 6-DB Data Lake</a:t>
            </a:r>
            <a:r>
              <a:rPr b="0" sz="810">
                <a:solidFill>
                  <a:srgbClr val="0F172A"/>
                </a:solidFill>
                <a:latin typeface="Segoe UI"/>
              </a:rPr>
              <a:t>, 24x7 Failover Scraper &amp; Feedback Scorer 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1999" y="3248025"/>
            <a:ext cx="1066800" cy="20955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12">
                <a:solidFill>
                  <a:srgbClr val="FFFFFF"/>
                </a:solidFill>
                <a:latin typeface="Segoe UI"/>
              </a:defRPr>
            </a:pPr>
            <a:r>
              <a:t>Backend &amp;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0" y="3228975"/>
            <a:ext cx="2381250" cy="3619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10">
                <a:solidFill>
                  <a:srgbClr val="0F172A"/>
                </a:solidFill>
                <a:latin typeface="Segoe UI"/>
              </a:rPr>
              <a:t>FastAPI /v1/deta Gateway</a:t>
            </a:r>
            <a:r>
              <a:rPr b="0" sz="810">
                <a:solidFill>
                  <a:srgbClr val="0F172A"/>
                </a:solidFill>
                <a:latin typeface="Segoe UI"/>
              </a:rPr>
              <a:t>, &lt;1.5ms Redis Cache &amp; Manual Accident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81999" y="3648075"/>
            <a:ext cx="1066800" cy="20955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12">
                <a:solidFill>
                  <a:srgbClr val="FFFFFF"/>
                </a:solidFill>
                <a:latin typeface="Segoe UI"/>
              </a:defRPr>
            </a:pPr>
            <a:r>
              <a:t>UI &amp; Rail 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0" y="3629025"/>
            <a:ext cx="2381250" cy="3619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10">
                <a:solidFill>
                  <a:srgbClr val="0F172A"/>
                </a:solidFill>
                <a:latin typeface="Segoe UI"/>
              </a:rPr>
              <a:t>React 18 + Leaflet GIS</a:t>
            </a:r>
            <a:r>
              <a:rPr b="0" sz="810">
                <a:solidFill>
                  <a:srgbClr val="0F172A"/>
                </a:solidFill>
                <a:latin typeface="Segoe UI"/>
              </a:rPr>
              <a:t> (3 User Views), G&amp;SR Fog/Heat Rules &amp; 20K Backtest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800" y="6000750"/>
            <a:ext cx="11620500" cy="5524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4800" y="6000750"/>
            <a:ext cx="57150" cy="552450"/>
          </a:xfrm>
          <a:prstGeom prst="round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150" y="6029325"/>
            <a:ext cx="2247900" cy="495299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b="1" sz="1200">
                <a:solidFill>
                  <a:srgbClr val="173F70"/>
                </a:solidFill>
                <a:latin typeface="Consolas"/>
              </a:defRPr>
            </a:pPr>
            <a:r>
              <a:t>1.68 GB (Self-Growing)</a:t>
            </a:r>
          </a:p>
          <a:p>
            <a:pPr>
              <a:defRPr b="1" sz="787">
                <a:solidFill>
                  <a:srgbClr val="475569"/>
                </a:solidFill>
                <a:latin typeface="Segoe UI"/>
              </a:defRPr>
            </a:pPr>
            <a:r>
              <a:t>6-DB Live Scraping &amp; Feedback Lake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05100" y="6076950"/>
            <a:ext cx="9525" cy="400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0" y="6029325"/>
            <a:ext cx="2247900" cy="495299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b="1" sz="1200">
                <a:solidFill>
                  <a:srgbClr val="173F70"/>
                </a:solidFill>
                <a:latin typeface="Consolas"/>
              </a:defRPr>
            </a:pPr>
            <a:r>
              <a:t>8,990 Stns · 704 Cabins</a:t>
            </a:r>
          </a:p>
          <a:p>
            <a:pPr>
              <a:defRPr b="1" sz="787">
                <a:solidFill>
                  <a:srgbClr val="475569"/>
                </a:solidFill>
                <a:latin typeface="Segoe UI"/>
              </a:defRPr>
            </a:pPr>
            <a:r>
              <a:t>417,080 Schedule Stops Mapped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10150" y="6076950"/>
            <a:ext cx="9525" cy="400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8250" y="6029325"/>
            <a:ext cx="2247900" cy="495299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b="1" sz="1200">
                <a:solidFill>
                  <a:srgbClr val="173F70"/>
                </a:solidFill>
                <a:latin typeface="Consolas"/>
              </a:defRPr>
            </a:pPr>
            <a:r>
              <a:t>1.51M Delays · 3.19M Wx</a:t>
            </a:r>
          </a:p>
          <a:p>
            <a:pPr>
              <a:defRPr b="1" sz="787">
                <a:solidFill>
                  <a:srgbClr val="475569"/>
                </a:solidFill>
                <a:latin typeface="Segoe UI"/>
              </a:defRPr>
            </a:pPr>
            <a:r>
              <a:t>73,342 Track Recovery Profiles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6076950"/>
            <a:ext cx="9525" cy="400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53299" y="6029325"/>
            <a:ext cx="2247900" cy="495299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b="1" sz="1200">
                <a:solidFill>
                  <a:srgbClr val="173F70"/>
                </a:solidFill>
                <a:latin typeface="Consolas"/>
              </a:defRPr>
            </a:pPr>
            <a:r>
              <a:t>4.93m ➔ 1.49m (-70%)</a:t>
            </a:r>
          </a:p>
          <a:p>
            <a:pPr>
              <a:defRPr b="1" sz="787">
                <a:solidFill>
                  <a:srgbClr val="475569"/>
                </a:solidFill>
                <a:latin typeface="Segoe UI"/>
              </a:defRPr>
            </a:pPr>
            <a:r>
              <a:t>Typical Error Cut (N=20,000 Test)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20250" y="6076950"/>
            <a:ext cx="9525" cy="400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58350" y="6029325"/>
            <a:ext cx="2247900" cy="495299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b="1" sz="1200">
                <a:solidFill>
                  <a:srgbClr val="173F70"/>
                </a:solidFill>
                <a:latin typeface="Consolas"/>
              </a:defRPr>
            </a:pPr>
            <a:r>
              <a:t>85.3% Window + Manual Ops</a:t>
            </a:r>
          </a:p>
          <a:p>
            <a:pPr>
              <a:defRPr b="1" sz="787">
                <a:solidFill>
                  <a:srgbClr val="475569"/>
                </a:solidFill>
                <a:latin typeface="Segoe UI"/>
              </a:defRPr>
            </a:pPr>
            <a:r>
              <a:t>P10–P90 Band + Live Accident Input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1450" y="133350"/>
            <a:ext cx="1181100" cy="6096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5C4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Twarit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57150"/>
            <a:ext cx="1066800" cy="64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95250"/>
            <a:ext cx="9429750" cy="3429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475" b="1">
                <a:solidFill>
                  <a:srgbClr val="0F172A"/>
                </a:solidFill>
                <a:latin typeface="Segoe UI"/>
              </a:defRPr>
            </a:pPr>
            <a:r>
              <a:t>DARPAN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1125" y="419100"/>
            <a:ext cx="942975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89" b="1">
                <a:solidFill>
                  <a:srgbClr val="2563EB"/>
                </a:solidFill>
                <a:latin typeface="Segoe UI"/>
              </a:defRPr>
            </a:pPr>
            <a:r>
              <a:t>(Dynamic Forecast of Expected Time of Arrival for Coaching Trains — SIH26028)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4150"/>
            <a:ext cx="12192000" cy="323850"/>
          </a:xfrm>
          <a:prstGeom prst="rect">
            <a:avLst/>
          </a:prstGeom>
          <a:solidFill>
            <a:srgbClr val="0C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12">
                <a:solidFill>
                  <a:srgbClr val="FFFFF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4150"/>
            <a:ext cx="571500" cy="32385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" y="628650"/>
            <a:ext cx="11582400" cy="32385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lIns="109728"/>
          <a:lstStyle/>
          <a:p>
            <a:pPr algn="ctr"/>
            <a:r>
              <a:rPr b="1" sz="989">
                <a:solidFill>
                  <a:srgbClr val="173F70"/>
                </a:solidFill>
                <a:latin typeface="Segoe UI"/>
              </a:rPr>
              <a:t>GIST: </a:t>
            </a:r>
            <a:r>
              <a:rPr sz="960">
                <a:solidFill>
                  <a:srgbClr val="0F172A"/>
                </a:solidFill>
                <a:latin typeface="Segoe UI"/>
              </a:rPr>
              <a:t>Replaces Indian Railways' static </a:t>
            </a:r>
            <a:r>
              <a:rPr b="1" sz="862">
                <a:solidFill>
                  <a:srgbClr val="1D4ED8"/>
                </a:solidFill>
                <a:latin typeface="Consolas"/>
              </a:rPr>
              <a:t>Schedule + Current Delay - Fixed Buffer</a:t>
            </a:r>
            <a:r>
              <a:rPr sz="960">
                <a:solidFill>
                  <a:srgbClr val="0F172A"/>
                </a:solidFill>
                <a:latin typeface="Segoe UI"/>
              </a:rPr>
              <a:t> formula with a </a:t>
            </a:r>
            <a:r>
              <a:rPr b="1" sz="960">
                <a:solidFill>
                  <a:srgbClr val="0F172A"/>
                </a:solidFill>
                <a:latin typeface="Segoe UI"/>
              </a:rPr>
              <a:t>Self-Growing Hybrid AI + Railway Physics Engine</a:t>
            </a:r>
            <a:r>
              <a:rPr sz="960">
                <a:solidFill>
                  <a:srgbClr val="0F172A"/>
                </a:solidFill>
                <a:latin typeface="Segoe UI"/>
              </a:rPr>
              <a:t> that predicts </a:t>
            </a:r>
            <a:r>
              <a:rPr b="1" sz="960">
                <a:solidFill>
                  <a:srgbClr val="15803D"/>
                </a:solidFill>
                <a:latin typeface="Segoe UI"/>
              </a:rPr>
              <a:t>Best / Expected / Worst-Case arrival windows (P10/P50/P90)</a:t>
            </a:r>
            <a:r>
              <a:rPr sz="960">
                <a:solidFill>
                  <a:srgbClr val="0F172A"/>
                </a:solidFill>
                <a:latin typeface="Segoe UI"/>
              </a:rPr>
              <a:t> &amp; supports </a:t>
            </a:r>
            <a:r>
              <a:rPr b="1" sz="960">
                <a:solidFill>
                  <a:srgbClr val="0F172A"/>
                </a:solidFill>
                <a:latin typeface="Segoe UI"/>
              </a:rPr>
              <a:t>live manual accident overrides.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800" y="628650"/>
            <a:ext cx="47625" cy="323850"/>
          </a:xfrm>
          <a:prstGeom prst="round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4800" y="1123950"/>
            <a:ext cx="3733799" cy="51244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28825" y="981075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/>
            </a:pPr>
            <a:r>
              <a:t>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50" y="1276350"/>
            <a:ext cx="3543300" cy="266700"/>
          </a:xfrm>
          <a:prstGeom prst="round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Core Idea (How It Works)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50" y="1600200"/>
            <a:ext cx="3543300" cy="108585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" y="1676400"/>
            <a:ext cx="209550" cy="209550"/>
          </a:xfrm>
          <a:prstGeom prst="ellipse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825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1638300"/>
            <a:ext cx="3162300" cy="10096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85">
                <a:solidFill>
                  <a:srgbClr val="173F70"/>
                </a:solidFill>
                <a:latin typeface="Segoe UI"/>
              </a:rPr>
              <a:t>2-Step Hybrid Engine (AI + Rail Rules): </a:t>
            </a:r>
            <a:r>
              <a:rPr b="0" sz="839">
                <a:solidFill>
                  <a:srgbClr val="0F172A"/>
                </a:solidFill>
                <a:latin typeface="Segoe UI"/>
              </a:rPr>
              <a:t>Step 1 predicts travel drift via </a:t>
            </a:r>
            <a:r>
              <a:rPr b="1" sz="839">
                <a:solidFill>
                  <a:srgbClr val="0F172A"/>
                </a:solidFill>
                <a:latin typeface="Segoe UI"/>
              </a:rPr>
              <a:t>31-Feature Gradient Boosted AI</a:t>
            </a:r>
            <a:r>
              <a:rPr b="1" sz="839">
                <a:solidFill>
                  <a:srgbClr val="1D4ED8"/>
                </a:solidFill>
                <a:latin typeface="Consolas"/>
              </a:rPr>
              <a:t> [P10/P50/P90]</a:t>
            </a:r>
            <a:r>
              <a:rPr b="0" sz="839">
                <a:solidFill>
                  <a:srgbClr val="0F172A"/>
                </a:solidFill>
                <a:latin typeface="Segoe UI"/>
              </a:rPr>
              <a:t>; Step 2 enforces track &amp; platform physics </a:t>
            </a:r>
            <a:r>
              <a:rPr b="1" sz="839">
                <a:solidFill>
                  <a:srgbClr val="1D4ED8"/>
                </a:solidFill>
                <a:latin typeface="Consolas"/>
              </a:rPr>
              <a:t>[Space-Time DAG]</a:t>
            </a:r>
            <a:r>
              <a:rPr b="0" sz="839">
                <a:solidFill>
                  <a:srgbClr val="0F172A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50" y="2743200"/>
            <a:ext cx="3543300" cy="108585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2819400"/>
            <a:ext cx="209550" cy="209550"/>
          </a:xfrm>
          <a:prstGeom prst="ellipse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825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2781300"/>
            <a:ext cx="3162300" cy="10096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85">
                <a:solidFill>
                  <a:srgbClr val="173F70"/>
                </a:solidFill>
                <a:latin typeface="Segoe UI"/>
              </a:rPr>
              <a:t>Smart-Zoom Route Tracking: </a:t>
            </a:r>
            <a:r>
              <a:rPr b="0" sz="839">
                <a:solidFill>
                  <a:srgbClr val="0F172A"/>
                </a:solidFill>
                <a:latin typeface="Segoe UI"/>
              </a:rPr>
              <a:t>Runs fast </a:t>
            </a:r>
            <a:r>
              <a:rPr b="1" sz="839">
                <a:solidFill>
                  <a:srgbClr val="0F172A"/>
                </a:solidFill>
                <a:latin typeface="Segoe UI"/>
              </a:rPr>
              <a:t>station-to-station</a:t>
            </a:r>
            <a:r>
              <a:rPr b="1" sz="839">
                <a:solidFill>
                  <a:srgbClr val="1D4ED8"/>
                </a:solidFill>
                <a:latin typeface="Consolas"/>
              </a:rPr>
              <a:t> [O(1) Mode]</a:t>
            </a:r>
            <a:r>
              <a:rPr b="0" sz="839">
                <a:solidFill>
                  <a:srgbClr val="0F172A"/>
                </a:solidFill>
                <a:latin typeface="Segoe UI"/>
              </a:rPr>
              <a:t> when on time; zooms into </a:t>
            </a:r>
            <a:r>
              <a:rPr b="1" sz="839">
                <a:solidFill>
                  <a:srgbClr val="0F172A"/>
                </a:solidFill>
                <a:latin typeface="Segoe UI"/>
              </a:rPr>
              <a:t>halt-by-halt signal cabins</a:t>
            </a:r>
            <a:r>
              <a:rPr b="1" sz="839">
                <a:solidFill>
                  <a:srgbClr val="1D4ED8"/>
                </a:solidFill>
                <a:latin typeface="Consolas"/>
              </a:rPr>
              <a:t> [704 Cabins]</a:t>
            </a:r>
            <a:r>
              <a:rPr b="0" sz="839">
                <a:solidFill>
                  <a:srgbClr val="0F172A"/>
                </a:solidFill>
                <a:latin typeface="Segoe UI"/>
              </a:rPr>
              <a:t> when delayed.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0050" y="3886200"/>
            <a:ext cx="3543300" cy="108585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3962400"/>
            <a:ext cx="209550" cy="209550"/>
          </a:xfrm>
          <a:prstGeom prst="ellipse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825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3924300"/>
            <a:ext cx="3162300" cy="10096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85">
                <a:solidFill>
                  <a:srgbClr val="173F70"/>
                </a:solidFill>
                <a:latin typeface="Segoe UI"/>
              </a:rPr>
              <a:t>Self-Growing DB &amp; Feedback Flywheel: </a:t>
            </a:r>
            <a:r>
              <a:rPr b="0" sz="839">
                <a:solidFill>
                  <a:srgbClr val="0F172A"/>
                </a:solidFill>
                <a:latin typeface="Segoe UI"/>
              </a:rPr>
              <a:t>Constantly scrapes live runs &amp; scores its own past predictions </a:t>
            </a:r>
            <a:r>
              <a:rPr b="1" sz="839">
                <a:solidFill>
                  <a:srgbClr val="1D4ED8"/>
                </a:solidFill>
                <a:latin typeface="Consolas"/>
              </a:rPr>
              <a:t>[1.68 GB now]</a:t>
            </a:r>
            <a:r>
              <a:rPr b="0" sz="839">
                <a:solidFill>
                  <a:srgbClr val="0F172A"/>
                </a:solidFill>
                <a:latin typeface="Segoe UI"/>
              </a:rPr>
              <a:t>—the longer it runs, the smarter &amp; more </a:t>
            </a:r>
            <a:r>
              <a:rPr b="1" sz="839">
                <a:solidFill>
                  <a:srgbClr val="0F172A"/>
                </a:solidFill>
                <a:latin typeface="Segoe UI"/>
              </a:rPr>
              <a:t>accurate it gets.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050" y="5029199"/>
            <a:ext cx="3543300" cy="108585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" y="5105399"/>
            <a:ext cx="209550" cy="209550"/>
          </a:xfrm>
          <a:prstGeom prst="ellipse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825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067299"/>
            <a:ext cx="3162300" cy="10096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85">
                <a:solidFill>
                  <a:srgbClr val="173F70"/>
                </a:solidFill>
                <a:latin typeface="Segoe UI"/>
              </a:rPr>
              <a:t>Manual Unpredicted Accident Input: </a:t>
            </a:r>
            <a:r>
              <a:rPr b="0" sz="839">
                <a:solidFill>
                  <a:srgbClr val="0F172A"/>
                </a:solidFill>
                <a:latin typeface="Segoe UI"/>
              </a:rPr>
              <a:t>Control rooms can inject </a:t>
            </a:r>
            <a:r>
              <a:rPr b="1" sz="839">
                <a:solidFill>
                  <a:srgbClr val="0F172A"/>
                </a:solidFill>
                <a:latin typeface="Segoe UI"/>
              </a:rPr>
              <a:t>sudden unpredicted accidents/blocks</a:t>
            </a:r>
            <a:r>
              <a:rPr b="1" sz="839">
                <a:solidFill>
                  <a:srgbClr val="D97706"/>
                </a:solidFill>
                <a:latin typeface="Consolas"/>
              </a:rPr>
              <a:t> [1-Click Override]</a:t>
            </a:r>
            <a:r>
              <a:rPr b="0" sz="839">
                <a:solidFill>
                  <a:srgbClr val="0F172A"/>
                </a:solidFill>
                <a:latin typeface="Segoe UI"/>
              </a:rPr>
              <a:t> to instantly recompute ETAs &amp; 25kV detours.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29100" y="1123950"/>
            <a:ext cx="3733799" cy="51244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953125" y="981075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93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/>
            </a:pPr>
            <a:r>
              <a:t>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4350" y="1276350"/>
            <a:ext cx="3543300" cy="266700"/>
          </a:xfrm>
          <a:prstGeom prst="roundRect">
            <a:avLst/>
          </a:prstGeom>
          <a:solidFill>
            <a:srgbClr val="59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How We Solve Every PS 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4350" y="1600200"/>
            <a:ext cx="3543300" cy="108585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81500" y="1676400"/>
            <a:ext cx="209550" cy="209550"/>
          </a:xfrm>
          <a:prstGeom prst="ellipse">
            <a:avLst/>
          </a:prstGeom>
          <a:solidFill>
            <a:srgbClr val="59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825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8200" y="1638300"/>
            <a:ext cx="3162300" cy="10096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85">
                <a:solidFill>
                  <a:srgbClr val="593876"/>
                </a:solidFill>
                <a:latin typeface="Segoe UI"/>
              </a:rPr>
              <a:t>Replaces Static Recovery Buffers: </a:t>
            </a:r>
            <a:r>
              <a:rPr b="0" sz="839">
                <a:solidFill>
                  <a:srgbClr val="0F172A"/>
                </a:solidFill>
                <a:latin typeface="Segoe UI"/>
              </a:rPr>
              <a:t>CAG audits show fixed buffers fail on </a:t>
            </a:r>
            <a:r>
              <a:rPr b="1" sz="839">
                <a:solidFill>
                  <a:srgbClr val="0F172A"/>
                </a:solidFill>
                <a:latin typeface="Segoe UI"/>
              </a:rPr>
              <a:t>&gt;100% congested trunk lines.</a:t>
            </a:r>
            <a:r>
              <a:rPr b="0" sz="839">
                <a:solidFill>
                  <a:srgbClr val="0F172A"/>
                </a:solidFill>
                <a:latin typeface="Segoe UI"/>
              </a:rPr>
              <a:t> We learn real section slack &amp; enforce </a:t>
            </a:r>
            <a:r>
              <a:rPr b="1" sz="839">
                <a:solidFill>
                  <a:srgbClr val="0F172A"/>
                </a:solidFill>
                <a:latin typeface="Segoe UI"/>
              </a:rPr>
              <a:t>no early departure before schedule</a:t>
            </a:r>
            <a:r>
              <a:rPr b="1" sz="839">
                <a:solidFill>
                  <a:srgbClr val="1D4ED8"/>
                </a:solidFill>
                <a:latin typeface="Consolas"/>
              </a:rPr>
              <a:t> [STD Hold]</a:t>
            </a:r>
            <a:r>
              <a:rPr b="0" sz="839">
                <a:solidFill>
                  <a:srgbClr val="0F172A"/>
                </a:solidFill>
                <a:latin typeface="Segoe UI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4350" y="2743200"/>
            <a:ext cx="3543300" cy="108585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81500" y="2819400"/>
            <a:ext cx="209550" cy="209550"/>
          </a:xfrm>
          <a:prstGeom prst="ellipse">
            <a:avLst/>
          </a:prstGeom>
          <a:solidFill>
            <a:srgbClr val="59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825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8200" y="2781300"/>
            <a:ext cx="3162300" cy="10096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85">
                <a:solidFill>
                  <a:srgbClr val="593876"/>
                </a:solidFill>
                <a:latin typeface="Segoe UI"/>
              </a:rPr>
              <a:t>Overtaking &amp; Following-Train Delays: </a:t>
            </a:r>
            <a:r>
              <a:rPr b="0" sz="839">
                <a:solidFill>
                  <a:srgbClr val="0F172A"/>
                </a:solidFill>
                <a:latin typeface="Segoe UI"/>
              </a:rPr>
              <a:t>Models </a:t>
            </a:r>
            <a:r>
              <a:rPr b="1" sz="839">
                <a:solidFill>
                  <a:srgbClr val="0F172A"/>
                </a:solidFill>
                <a:latin typeface="Segoe UI"/>
              </a:rPr>
              <a:t>Vande Bharat / Rajdhani priority overtaking</a:t>
            </a:r>
            <a:r>
              <a:rPr b="1" sz="839">
                <a:solidFill>
                  <a:srgbClr val="1D4ED8"/>
                </a:solidFill>
                <a:latin typeface="Consolas"/>
              </a:rPr>
              <a:t> [COA 6-Tier]</a:t>
            </a:r>
            <a:r>
              <a:rPr b="0" sz="839">
                <a:solidFill>
                  <a:srgbClr val="0F172A"/>
                </a:solidFill>
                <a:latin typeface="Segoe UI"/>
              </a:rPr>
              <a:t> and </a:t>
            </a:r>
            <a:r>
              <a:rPr b="1" sz="839">
                <a:solidFill>
                  <a:srgbClr val="0F172A"/>
                </a:solidFill>
                <a:latin typeface="Segoe UI"/>
              </a:rPr>
              <a:t>3–7 min safety headway gaps</a:t>
            </a:r>
            <a:r>
              <a:rPr b="0" sz="839">
                <a:solidFill>
                  <a:srgbClr val="0F172A"/>
                </a:solidFill>
                <a:latin typeface="Segoe UI"/>
              </a:rPr>
              <a:t> behind slower trains.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4350" y="3886200"/>
            <a:ext cx="3543300" cy="108585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381500" y="3962400"/>
            <a:ext cx="209550" cy="209550"/>
          </a:xfrm>
          <a:prstGeom prst="ellipse">
            <a:avLst/>
          </a:prstGeom>
          <a:solidFill>
            <a:srgbClr val="59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825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8200" y="3924300"/>
            <a:ext cx="3162300" cy="10096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85">
                <a:solidFill>
                  <a:srgbClr val="593876"/>
                </a:solidFill>
                <a:latin typeface="Segoe UI"/>
              </a:rPr>
              <a:t>Official Fog, Rain &amp; Track-Heat Rules: </a:t>
            </a:r>
            <a:r>
              <a:rPr b="0" sz="839">
                <a:solidFill>
                  <a:srgbClr val="0F172A"/>
                </a:solidFill>
                <a:latin typeface="Segoe UI"/>
              </a:rPr>
              <a:t>Converts live weather into </a:t>
            </a:r>
            <a:r>
              <a:rPr b="1" sz="839">
                <a:solidFill>
                  <a:srgbClr val="0F172A"/>
                </a:solidFill>
                <a:latin typeface="Segoe UI"/>
              </a:rPr>
              <a:t>Indian Railways G&amp;SR Fog-Pass speed limits</a:t>
            </a:r>
            <a:r>
              <a:rPr b="1" sz="839">
                <a:solidFill>
                  <a:srgbClr val="1D4ED8"/>
                </a:solidFill>
                <a:latin typeface="Consolas"/>
              </a:rPr>
              <a:t> [75/60/30 km/h]</a:t>
            </a:r>
            <a:r>
              <a:rPr b="0" sz="839">
                <a:solidFill>
                  <a:srgbClr val="0F172A"/>
                </a:solidFill>
                <a:latin typeface="Segoe UI"/>
              </a:rPr>
              <a:t> &amp; </a:t>
            </a:r>
            <a:r>
              <a:rPr b="1" sz="839">
                <a:solidFill>
                  <a:srgbClr val="0F172A"/>
                </a:solidFill>
                <a:latin typeface="Segoe UI"/>
              </a:rPr>
              <a:t>60°C rail-buckling</a:t>
            </a:r>
            <a:r>
              <a:rPr b="0" sz="839">
                <a:solidFill>
                  <a:srgbClr val="0F172A"/>
                </a:solidFill>
                <a:latin typeface="Segoe UI"/>
              </a:rPr>
              <a:t> speed caps.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4350" y="5029199"/>
            <a:ext cx="3543300" cy="108585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81500" y="5105399"/>
            <a:ext cx="209550" cy="209550"/>
          </a:xfrm>
          <a:prstGeom prst="ellipse">
            <a:avLst/>
          </a:prstGeom>
          <a:solidFill>
            <a:srgbClr val="59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825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48200" y="5067299"/>
            <a:ext cx="3162300" cy="100965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r>
              <a:rPr b="1" sz="885">
                <a:solidFill>
                  <a:srgbClr val="593876"/>
                </a:solidFill>
                <a:latin typeface="Segoe UI"/>
              </a:rPr>
              <a:t>Zero-Clash Platforms &amp; Crowd Surges: </a:t>
            </a:r>
            <a:r>
              <a:rPr b="1" sz="839">
                <a:solidFill>
                  <a:srgbClr val="1D4ED8"/>
                </a:solidFill>
                <a:latin typeface="Consolas"/>
              </a:rPr>
              <a:t>[IntervalTree]</a:t>
            </a:r>
            <a:r>
              <a:rPr b="0" sz="839">
                <a:solidFill>
                  <a:srgbClr val="0F172A"/>
                </a:solidFill>
                <a:latin typeface="Segoe UI"/>
              </a:rPr>
              <a:t> prevents platform clashes, predicts </a:t>
            </a:r>
            <a:r>
              <a:rPr b="1" sz="839">
                <a:solidFill>
                  <a:srgbClr val="0F172A"/>
                </a:solidFill>
                <a:latin typeface="Segoe UI"/>
              </a:rPr>
              <a:t>Outer Home Signal wait times</a:t>
            </a:r>
            <a:r>
              <a:rPr b="0" sz="839">
                <a:solidFill>
                  <a:srgbClr val="0F172A"/>
                </a:solidFill>
                <a:latin typeface="Segoe UI"/>
              </a:rPr>
              <a:t>, and models </a:t>
            </a:r>
            <a:r>
              <a:rPr b="1" sz="839">
                <a:solidFill>
                  <a:srgbClr val="0F172A"/>
                </a:solidFill>
                <a:latin typeface="Segoe UI"/>
              </a:rPr>
              <a:t>Festival Crowd Halts (Maha Kumbh 3.2x).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53399" y="1123950"/>
            <a:ext cx="3733799" cy="51244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877425" y="981075"/>
            <a:ext cx="285750" cy="2857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7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/>
            </a:pPr>
            <a:r>
              <a:t>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48650" y="1276350"/>
            <a:ext cx="3543300" cy="266700"/>
          </a:xfrm>
          <a:prstGeom prst="roundRect">
            <a:avLst/>
          </a:prstGeom>
          <a:solidFill>
            <a:srgbClr val="1F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50">
                <a:solidFill>
                  <a:srgbClr val="FFFFFF"/>
                </a:solidFill>
                <a:latin typeface="Segoe UI"/>
              </a:defRPr>
            </a:pPr>
            <a:r>
              <a:t>Core Architecture Mindmap &amp; Results</a:t>
            </a:r>
          </a:p>
        </p:txBody>
      </p:sp>
      <p:pic>
        <p:nvPicPr>
          <p:cNvPr id="43" name="Picture 42" descr="mindmap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0" y="1600200"/>
            <a:ext cx="3543300" cy="17145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8248650" y="3371850"/>
            <a:ext cx="3543300" cy="57150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b="1" sz="885">
                <a:solidFill>
                  <a:srgbClr val="15803D"/>
                </a:solidFill>
                <a:latin typeface="Segoe UI"/>
              </a:rPr>
              <a:t>✓ 85.3% Window Accuracy &amp; 0.92 AUC: </a:t>
            </a:r>
            <a:r>
              <a:rPr sz="839">
                <a:solidFill>
                  <a:srgbClr val="0F172A"/>
                </a:solidFill>
                <a:latin typeface="Segoe UI"/>
              </a:rPr>
              <a:t>Calibrated [P10, P90] arrival window band + </a:t>
            </a:r>
            <a:r>
              <a:rPr b="1" sz="839">
                <a:solidFill>
                  <a:srgbClr val="0F172A"/>
                </a:solidFill>
                <a:latin typeface="Segoe UI"/>
              </a:rPr>
              <a:t>Renamed Code Bridge</a:t>
            </a:r>
            <a:r>
              <a:rPr sz="839">
                <a:solidFill>
                  <a:srgbClr val="0F172A"/>
                </a:solidFill>
                <a:latin typeface="Segoe UI"/>
              </a:rPr>
              <a:t> (+72.5K rows rescued).</a:t>
            </a:r>
          </a:p>
        </p:txBody>
      </p:sp>
      <p:pic>
        <p:nvPicPr>
          <p:cNvPr id="45" name="Picture 44" descr="error_chart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650" y="4000500"/>
            <a:ext cx="35433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1450" y="133350"/>
            <a:ext cx="1181100" cy="6096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5C4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Twarit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57150"/>
            <a:ext cx="1066800" cy="64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133350"/>
            <a:ext cx="9429750" cy="476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550" b="1">
                <a:solidFill>
                  <a:srgbClr val="0F172A"/>
                </a:solidFill>
                <a:latin typeface="Segoe UI"/>
              </a:defRPr>
            </a:pPr>
            <a:r>
              <a:t>TECHNICAL APPROACH &amp; DATA FLOW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150"/>
            <a:ext cx="12192000" cy="323850"/>
          </a:xfrm>
          <a:prstGeom prst="rect">
            <a:avLst/>
          </a:prstGeom>
          <a:solidFill>
            <a:srgbClr val="0C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12">
                <a:solidFill>
                  <a:srgbClr val="FFFFF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4150"/>
            <a:ext cx="571500" cy="32385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6700" y="666750"/>
            <a:ext cx="5048250" cy="52959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950" y="742950"/>
            <a:ext cx="4857750" cy="247649"/>
          </a:xfrm>
          <a:prstGeom prst="round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89">
                <a:solidFill>
                  <a:srgbClr val="FFFFFF"/>
                </a:solidFill>
                <a:latin typeface="Segoe UI"/>
              </a:defRPr>
            </a:pPr>
            <a:r>
              <a:t>TECHNOLOGY STACK &amp; TRAJECTORY FORECAST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950" y="1028700"/>
            <a:ext cx="4857750" cy="4191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b="1" sz="855">
                <a:solidFill>
                  <a:srgbClr val="173F70"/>
                </a:solidFill>
                <a:latin typeface="Segoe UI"/>
              </a:rPr>
              <a:t>1. 24x7 Scraping &amp; Weather Ingestion: </a:t>
            </a:r>
            <a:r>
              <a:rPr b="0" sz="825">
                <a:solidFill>
                  <a:srgbClr val="0F172A"/>
                </a:solidFill>
                <a:latin typeface="Segoe UI"/>
              </a:rPr>
              <a:t>4-Source Failover (ConfirmTkt➔NTES➔eRail) + Open-Meteo 180-Hex Grid + </a:t>
            </a:r>
            <a:r>
              <a:rPr b="1" sz="825">
                <a:solidFill>
                  <a:srgbClr val="0F172A"/>
                </a:solidFill>
                <a:latin typeface="Segoe UI"/>
              </a:rPr>
              <a:t>Smart Pacing (-79.9% load).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950" y="1476375"/>
            <a:ext cx="4857750" cy="4191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b="1" sz="855">
                <a:solidFill>
                  <a:srgbClr val="173F70"/>
                </a:solidFill>
                <a:latin typeface="Segoe UI"/>
              </a:rPr>
              <a:t>2. Self-Growing 6-Database Lake (1.68 GB+): </a:t>
            </a:r>
            <a:r>
              <a:rPr b="0" sz="825">
                <a:solidFill>
                  <a:srgbClr val="0F172A"/>
                </a:solidFill>
                <a:latin typeface="Segoe UI"/>
              </a:rPr>
              <a:t>6 SQLite DBs (darpan, historical, weather, stations, telemetry, anomalies) + </a:t>
            </a:r>
            <a:r>
              <a:rPr b="1" sz="825">
                <a:solidFill>
                  <a:srgbClr val="0F172A"/>
                </a:solidFill>
                <a:latin typeface="Segoe UI"/>
              </a:rPr>
              <a:t>&lt;1.5ms Cache.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950" y="1924050"/>
            <a:ext cx="4857750" cy="4191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b="1" sz="855">
                <a:solidFill>
                  <a:srgbClr val="173F70"/>
                </a:solidFill>
                <a:latin typeface="Segoe UI"/>
              </a:rPr>
              <a:t>3. Layer 1 — 31 G&amp;SR Operational Features: </a:t>
            </a:r>
            <a:r>
              <a:rPr b="0" sz="825">
                <a:solidFill>
                  <a:srgbClr val="0F172A"/>
                </a:solidFill>
                <a:latin typeface="Segoe UI"/>
              </a:rPr>
              <a:t>Speed trend, 73.3K slack profiles, </a:t>
            </a:r>
            <a:r>
              <a:rPr b="1" sz="825">
                <a:solidFill>
                  <a:srgbClr val="0F172A"/>
                </a:solidFill>
                <a:latin typeface="Segoe UI"/>
              </a:rPr>
              <a:t>Fog limits (75/60/30 km/h), 60°C rail heat</a:t>
            </a:r>
            <a:r>
              <a:rPr b="0" sz="825">
                <a:solidFill>
                  <a:srgbClr val="0F172A"/>
                </a:solidFill>
                <a:latin typeface="Segoe UI"/>
              </a:rPr>
              <a:t> &amp; festival surges.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950" y="2371725"/>
            <a:ext cx="4857750" cy="4191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b="1" sz="855">
                <a:solidFill>
                  <a:srgbClr val="173F70"/>
                </a:solidFill>
                <a:latin typeface="Segoe UI"/>
              </a:rPr>
              <a:t>4. Layer 2 — Arrival Window AI: </a:t>
            </a:r>
            <a:r>
              <a:rPr b="0" sz="825">
                <a:solidFill>
                  <a:srgbClr val="0F172A"/>
                </a:solidFill>
                <a:latin typeface="Segoe UI"/>
              </a:rPr>
              <a:t>3 Quantile GBDT models predict </a:t>
            </a:r>
            <a:r>
              <a:rPr b="1" sz="825">
                <a:solidFill>
                  <a:srgbClr val="0F172A"/>
                </a:solidFill>
                <a:latin typeface="Segoe UI"/>
              </a:rPr>
              <a:t>P10 / P50 / P90</a:t>
            </a:r>
            <a:r>
              <a:rPr b="0" sz="825">
                <a:solidFill>
                  <a:srgbClr val="0F172A"/>
                </a:solidFill>
                <a:latin typeface="Segoe UI"/>
              </a:rPr>
              <a:t> (Transit R² = 0.987) + </a:t>
            </a:r>
            <a:r>
              <a:rPr b="1" sz="825">
                <a:solidFill>
                  <a:srgbClr val="0F172A"/>
                </a:solidFill>
                <a:latin typeface="Segoe UI"/>
              </a:rPr>
              <a:t>Delay-Jump Alert (0.92 AUC).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950" y="2819400"/>
            <a:ext cx="4857750" cy="4191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b="1" sz="855">
                <a:solidFill>
                  <a:srgbClr val="173F70"/>
                </a:solidFill>
                <a:latin typeface="Segoe UI"/>
              </a:rPr>
              <a:t>5. Layer 3 — Physics &amp; Manual Accident Ops: </a:t>
            </a:r>
            <a:r>
              <a:rPr b="0" sz="825">
                <a:solidFill>
                  <a:srgbClr val="0F172A"/>
                </a:solidFill>
                <a:latin typeface="Segoe UI"/>
              </a:rPr>
              <a:t>Space-Time DAG + </a:t>
            </a:r>
            <a:r>
              <a:rPr b="1" sz="825">
                <a:solidFill>
                  <a:srgbClr val="0F172A"/>
                </a:solidFill>
                <a:latin typeface="Segoe UI"/>
              </a:rPr>
              <a:t>Zero-Clash Platforms</a:t>
            </a:r>
            <a:r>
              <a:rPr b="0" sz="825">
                <a:solidFill>
                  <a:srgbClr val="0F172A"/>
                </a:solidFill>
                <a:latin typeface="Segoe UI"/>
              </a:rPr>
              <a:t> + </a:t>
            </a:r>
            <a:r>
              <a:rPr b="1" sz="825">
                <a:solidFill>
                  <a:srgbClr val="0F172A"/>
                </a:solidFill>
                <a:latin typeface="Segoe UI"/>
              </a:rPr>
              <a:t>1-Click Manual Overrides</a:t>
            </a:r>
            <a:r>
              <a:rPr b="0" sz="825">
                <a:solidFill>
                  <a:srgbClr val="0F172A"/>
                </a:solidFill>
                <a:latin typeface="Segoe UI"/>
              </a:rPr>
              <a:t> + </a:t>
            </a:r>
            <a:r>
              <a:rPr b="1" sz="825">
                <a:solidFill>
                  <a:srgbClr val="0F172A"/>
                </a:solidFill>
                <a:latin typeface="Segoe UI"/>
              </a:rPr>
              <a:t>25kV Detours.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950" y="3267075"/>
            <a:ext cx="4857750" cy="4191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/>
            <a:r>
              <a:rPr b="1" sz="855">
                <a:solidFill>
                  <a:srgbClr val="173F70"/>
                </a:solidFill>
                <a:latin typeface="Segoe UI"/>
              </a:rPr>
              <a:t>6. Feedback Self-Scoring Flywheel: </a:t>
            </a:r>
            <a:r>
              <a:rPr b="0" sz="825">
                <a:solidFill>
                  <a:srgbClr val="0F172A"/>
                </a:solidFill>
                <a:latin typeface="Segoe UI"/>
              </a:rPr>
              <a:t>SnapshotWriter + score_snapshots.py continuously audit predictions vs. actual arrivals to retrain AI.</a:t>
            </a:r>
          </a:p>
        </p:txBody>
      </p:sp>
      <p:pic>
        <p:nvPicPr>
          <p:cNvPr id="15" name="Picture 14" descr="traj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" y="3829050"/>
            <a:ext cx="4857750" cy="2038349"/>
          </a:xfrm>
          <a:prstGeom prst="rect">
            <a:avLst/>
          </a:prstGeom>
        </p:spPr>
      </p:pic>
      <p:pic>
        <p:nvPicPr>
          <p:cNvPr id="16" name="Picture 15" descr="df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666750"/>
            <a:ext cx="6515100" cy="52959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266700" y="6038850"/>
            <a:ext cx="11658600" cy="38100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850" y="6076950"/>
            <a:ext cx="1190625" cy="285750"/>
          </a:xfrm>
          <a:prstGeom prst="rect">
            <a:avLst/>
          </a:prstGeom>
          <a:noFill/>
        </p:spPr>
        <p:txBody>
          <a:bodyPr wrap="none" tIns="18288" lIns="0">
            <a:spAutoFit/>
          </a:bodyPr>
          <a:lstStyle/>
          <a:p>
            <a:pPr>
              <a:defRPr b="1" sz="862">
                <a:solidFill>
                  <a:srgbClr val="112A46"/>
                </a:solidFill>
                <a:latin typeface="Segoe UI"/>
              </a:defRPr>
            </a:pPr>
            <a:r>
              <a:t>PROCESS FLOW: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28750" y="6086475"/>
            <a:ext cx="1485900" cy="285750"/>
          </a:xfrm>
          <a:prstGeom prst="roundRect">
            <a:avLst/>
          </a:prstGeom>
          <a:solidFill>
            <a:srgbClr val="17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0"/>
          <a:lstStyle/>
          <a:p>
            <a:pPr algn="ctr">
              <a:defRPr b="1" sz="719">
                <a:solidFill>
                  <a:srgbClr val="FFFFFF"/>
                </a:solidFill>
                <a:latin typeface="Segoe UI"/>
              </a:defRPr>
            </a:pPr>
            <a:r>
              <a:t>1. Multi-Source Scrape + Weather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2750" y="6076950"/>
            <a:ext cx="171450" cy="285750"/>
          </a:xfrm>
          <a:prstGeom prst="rect">
            <a:avLst/>
          </a:prstGeom>
          <a:noFill/>
        </p:spPr>
        <p:txBody>
          <a:bodyPr wrap="none" tIns="18288" lIns="0">
            <a:spAutoFit/>
          </a:bodyPr>
          <a:lstStyle/>
          <a:p>
            <a:pPr algn="ctr">
              <a:defRPr b="1" sz="825">
                <a:solidFill>
                  <a:srgbClr val="64748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43250" y="6086475"/>
            <a:ext cx="1428750" cy="28575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0"/>
          <a:lstStyle/>
          <a:p>
            <a:pPr algn="ctr">
              <a:defRPr b="1" sz="719">
                <a:solidFill>
                  <a:srgbClr val="FFFFFF"/>
                </a:solidFill>
                <a:latin typeface="Segoe UI"/>
              </a:defRPr>
            </a:pPr>
            <a:r>
              <a:t>2. 31-Feature G&amp;SR Fusion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0100" y="6076950"/>
            <a:ext cx="171450" cy="285750"/>
          </a:xfrm>
          <a:prstGeom prst="rect">
            <a:avLst/>
          </a:prstGeom>
          <a:noFill/>
        </p:spPr>
        <p:txBody>
          <a:bodyPr wrap="none" tIns="18288" lIns="0">
            <a:spAutoFit/>
          </a:bodyPr>
          <a:lstStyle/>
          <a:p>
            <a:pPr algn="ctr">
              <a:defRPr b="1" sz="825">
                <a:solidFill>
                  <a:srgbClr val="64748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6086475"/>
            <a:ext cx="1428750" cy="28575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0"/>
          <a:lstStyle/>
          <a:p>
            <a:pPr algn="ctr">
              <a:defRPr b="1" sz="719">
                <a:solidFill>
                  <a:srgbClr val="FFFFFF"/>
                </a:solidFill>
                <a:latin typeface="Segoe UI"/>
              </a:defRPr>
            </a:pPr>
            <a:r>
              <a:t>3. Quantile GBDT (P10/50/90)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7450" y="6076950"/>
            <a:ext cx="171450" cy="285750"/>
          </a:xfrm>
          <a:prstGeom prst="rect">
            <a:avLst/>
          </a:prstGeom>
          <a:noFill/>
        </p:spPr>
        <p:txBody>
          <a:bodyPr wrap="none" tIns="18288" lIns="0">
            <a:spAutoFit/>
          </a:bodyPr>
          <a:lstStyle/>
          <a:p>
            <a:pPr algn="ctr">
              <a:defRPr b="1" sz="825">
                <a:solidFill>
                  <a:srgbClr val="64748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7950" y="6086475"/>
            <a:ext cx="1428750" cy="285750"/>
          </a:xfrm>
          <a:prstGeom prst="roundRect">
            <a:avLst/>
          </a:prstGeom>
          <a:solidFill>
            <a:srgbClr val="59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0"/>
          <a:lstStyle/>
          <a:p>
            <a:pPr algn="ctr">
              <a:defRPr b="1" sz="719">
                <a:solidFill>
                  <a:srgbClr val="FFFFFF"/>
                </a:solidFill>
                <a:latin typeface="Segoe UI"/>
              </a:defRPr>
            </a:pPr>
            <a:r>
              <a:t>4. Physics DAG + Manual 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4799" y="6076950"/>
            <a:ext cx="171450" cy="285750"/>
          </a:xfrm>
          <a:prstGeom prst="rect">
            <a:avLst/>
          </a:prstGeom>
          <a:noFill/>
        </p:spPr>
        <p:txBody>
          <a:bodyPr wrap="none" tIns="18288" lIns="0">
            <a:spAutoFit/>
          </a:bodyPr>
          <a:lstStyle/>
          <a:p>
            <a:pPr algn="ctr">
              <a:defRPr b="1" sz="825">
                <a:solidFill>
                  <a:srgbClr val="64748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5300" y="6086475"/>
            <a:ext cx="1143000" cy="28575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0"/>
          <a:lstStyle/>
          <a:p>
            <a:pPr algn="ctr">
              <a:defRPr b="1" sz="719">
                <a:solidFill>
                  <a:srgbClr val="FFFFFF"/>
                </a:solidFill>
                <a:latin typeface="Segoe UI"/>
              </a:defRPr>
            </a:pPr>
            <a:r>
              <a:t>5. FastAPI (&lt;18ms)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6400" y="6076950"/>
            <a:ext cx="171450" cy="285750"/>
          </a:xfrm>
          <a:prstGeom prst="rect">
            <a:avLst/>
          </a:prstGeom>
          <a:noFill/>
        </p:spPr>
        <p:txBody>
          <a:bodyPr wrap="none" tIns="18288" lIns="0">
            <a:spAutoFit/>
          </a:bodyPr>
          <a:lstStyle/>
          <a:p>
            <a:pPr algn="ctr">
              <a:defRPr b="1" sz="825">
                <a:solidFill>
                  <a:srgbClr val="64748B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86900" y="6086475"/>
            <a:ext cx="1285875" cy="285750"/>
          </a:xfrm>
          <a:prstGeom prst="roundRect">
            <a:avLst/>
          </a:prstGeom>
          <a:solidFill>
            <a:srgbClr val="1F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0"/>
          <a:lstStyle/>
          <a:p>
            <a:pPr algn="ctr">
              <a:defRPr b="1" sz="719">
                <a:solidFill>
                  <a:srgbClr val="FFFFFF"/>
                </a:solidFill>
                <a:latin typeface="Segoe UI"/>
              </a:defRPr>
            </a:pPr>
            <a:r>
              <a:t>6. Self-Scoring DB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1450" y="133350"/>
            <a:ext cx="1181100" cy="6096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5C4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Twarit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57150"/>
            <a:ext cx="1066800" cy="64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95250"/>
            <a:ext cx="9429750" cy="3429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FEASIBILITY AND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1125" y="419100"/>
            <a:ext cx="9429750" cy="2286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989" b="1">
                <a:solidFill>
                  <a:srgbClr val="2563EB"/>
                </a:solidFill>
                <a:latin typeface="Segoe UI"/>
              </a:defRPr>
            </a:pPr>
            <a:r>
              <a:t>❖ TECHNICAL FEASIBILITY, MINISTRY FINANCIAL ROI, REAL CHALLENGES &amp; 1:1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4150"/>
            <a:ext cx="12192000" cy="323850"/>
          </a:xfrm>
          <a:prstGeom prst="rect">
            <a:avLst/>
          </a:prstGeom>
          <a:solidFill>
            <a:srgbClr val="0C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12">
                <a:solidFill>
                  <a:srgbClr val="FFFFF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34150"/>
            <a:ext cx="571500" cy="32385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700" y="666750"/>
            <a:ext cx="3571875" cy="5286375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" y="742950"/>
            <a:ext cx="3419475" cy="247649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75">
                <a:solidFill>
                  <a:srgbClr val="FFFFFF"/>
                </a:solidFill>
                <a:latin typeface="Segoe UI"/>
              </a:defRPr>
            </a:pPr>
            <a:r>
              <a:t>1. FEASIBILITY &amp; ECONOMIC VIABILITY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" y="1123950"/>
            <a:ext cx="3419475" cy="99059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/>
          <a:lstStyle/>
          <a:p>
            <a:pPr algn="ctr"/>
            <a:r>
              <a:rPr b="1" sz="885">
                <a:solidFill>
                  <a:srgbClr val="15803D"/>
                </a:solidFill>
                <a:latin typeface="Segoe UI"/>
              </a:rPr>
              <a:t>✓ Self-Growing Public Data Lake (1.68 GB+)
</a:t>
            </a:r>
            <a:r>
              <a:rPr b="0" sz="839">
                <a:solidFill>
                  <a:srgbClr val="0F172A"/>
                </a:solidFill>
                <a:latin typeface="Segoe UI"/>
              </a:rPr>
              <a:t>Built on </a:t>
            </a:r>
            <a:r>
              <a:rPr b="1" sz="839">
                <a:solidFill>
                  <a:srgbClr val="0F172A"/>
                </a:solidFill>
                <a:latin typeface="Segoe UI"/>
              </a:rPr>
              <a:t>1.51M real delays</a:t>
            </a:r>
            <a:r>
              <a:rPr b="0" sz="839">
                <a:solidFill>
                  <a:srgbClr val="0F172A"/>
                </a:solidFill>
                <a:latin typeface="Segoe UI"/>
              </a:rPr>
              <a:t> &amp; </a:t>
            </a:r>
            <a:r>
              <a:rPr b="1" sz="839">
                <a:solidFill>
                  <a:srgbClr val="0F172A"/>
                </a:solidFill>
                <a:latin typeface="Segoe UI"/>
              </a:rPr>
              <a:t>8,990 stations;</a:t>
            </a:r>
            <a:r>
              <a:rPr b="0" sz="839">
                <a:solidFill>
                  <a:srgbClr val="0F172A"/>
                </a:solidFill>
                <a:latin typeface="Segoe UI"/>
              </a:rPr>
              <a:t> 24x7 scraper &amp; feedback scorer grow the DB daily—</a:t>
            </a:r>
            <a:r>
              <a:rPr b="1" sz="839">
                <a:solidFill>
                  <a:srgbClr val="0F172A"/>
                </a:solidFill>
                <a:latin typeface="Segoe UI"/>
              </a:rPr>
              <a:t>longer it runs, better it performs.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" y="2266950"/>
            <a:ext cx="3419475" cy="99059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/>
          <a:lstStyle/>
          <a:p>
            <a:pPr algn="ctr"/>
            <a:r>
              <a:rPr b="1" sz="885">
                <a:solidFill>
                  <a:srgbClr val="15803D"/>
                </a:solidFill>
                <a:latin typeface="Segoe UI"/>
              </a:rPr>
              <a:t>✓ ₹0 Hardware Capex &amp; &lt;₹15K/mo Cloud Opex
</a:t>
            </a:r>
            <a:r>
              <a:rPr b="0" sz="839">
                <a:solidFill>
                  <a:srgbClr val="0F172A"/>
                </a:solidFill>
                <a:latin typeface="Segoe UI"/>
              </a:rPr>
              <a:t>Saves </a:t>
            </a:r>
            <a:r>
              <a:rPr b="1" sz="839">
                <a:solidFill>
                  <a:srgbClr val="0F172A"/>
                </a:solidFill>
                <a:latin typeface="Segoe UI"/>
              </a:rPr>
              <a:t>₹120+ Cr in trackside/GPS hardware;</a:t>
            </a:r>
            <a:r>
              <a:rPr b="0" sz="839">
                <a:solidFill>
                  <a:srgbClr val="0F172A"/>
                </a:solidFill>
                <a:latin typeface="Segoe UI"/>
              </a:rPr>
              <a:t> runs on standard CPU in </a:t>
            </a:r>
            <a:r>
              <a:rPr b="1" sz="839">
                <a:solidFill>
                  <a:srgbClr val="0F172A"/>
                </a:solidFill>
                <a:latin typeface="Segoe UI"/>
              </a:rPr>
              <a:t>&lt;18ms</a:t>
            </a:r>
            <a:r>
              <a:rPr b="0" sz="839">
                <a:solidFill>
                  <a:srgbClr val="0F172A"/>
                </a:solidFill>
                <a:latin typeface="Segoe UI"/>
              </a:rPr>
              <a:t> (zero GPU cost) with </a:t>
            </a:r>
            <a:r>
              <a:rPr b="1" sz="839">
                <a:solidFill>
                  <a:srgbClr val="0F172A"/>
                </a:solidFill>
                <a:latin typeface="Segoe UI"/>
              </a:rPr>
              <a:t>-79.9% scraper bandwidth.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" y="3409950"/>
            <a:ext cx="3419475" cy="990599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lIns="73152"/>
          <a:lstStyle/>
          <a:p>
            <a:pPr algn="ctr"/>
            <a:r>
              <a:rPr b="1" sz="885">
                <a:solidFill>
                  <a:srgbClr val="15803D"/>
                </a:solidFill>
                <a:latin typeface="Segoe UI"/>
              </a:rPr>
              <a:t>✓ High Railway Operational &amp; Fuel ROI
</a:t>
            </a:r>
            <a:r>
              <a:rPr b="0" sz="839">
                <a:solidFill>
                  <a:srgbClr val="0F172A"/>
                </a:solidFill>
                <a:latin typeface="Segoe UI"/>
              </a:rPr>
              <a:t>Prevents outer-signal train stops (saving </a:t>
            </a:r>
            <a:r>
              <a:rPr b="1" sz="839">
                <a:solidFill>
                  <a:srgbClr val="0F172A"/>
                </a:solidFill>
                <a:latin typeface="Segoe UI"/>
              </a:rPr>
              <a:t>150–200 kWh traction power / 35–50L diesel per stop</a:t>
            </a:r>
            <a:r>
              <a:rPr b="0" sz="839">
                <a:solidFill>
                  <a:srgbClr val="0F172A"/>
                </a:solidFill>
                <a:latin typeface="Segoe UI"/>
              </a:rPr>
              <a:t>) &amp; cuts junction platform delays.</a:t>
            </a:r>
          </a:p>
        </p:txBody>
      </p:sp>
      <p:pic>
        <p:nvPicPr>
          <p:cNvPr id="13" name="Picture 12" descr="score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552950"/>
            <a:ext cx="3419475" cy="11811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952875" y="666750"/>
            <a:ext cx="3571875" cy="5286375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29075" y="742950"/>
            <a:ext cx="3419475" cy="247649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75">
                <a:solidFill>
                  <a:srgbClr val="FFFFFF"/>
                </a:solidFill>
                <a:latin typeface="Segoe UI"/>
              </a:defRPr>
            </a:pPr>
            <a:r>
              <a:t>2. REAL RAILWAY CHALLENGES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9075" y="1066800"/>
            <a:ext cx="3419475" cy="11049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/>
            <a:r>
              <a:rPr b="1" sz="869">
                <a:solidFill>
                  <a:srgbClr val="B91C1C"/>
                </a:solidFill>
                <a:latin typeface="Segoe UI"/>
              </a:rPr>
              <a:t>⚠ Internal Railway GPS (RTIS/COA) is Closed
</a:t>
            </a:r>
            <a:r>
              <a:rPr b="0" sz="825">
                <a:solidFill>
                  <a:srgbClr val="0F172A"/>
                </a:solidFill>
                <a:latin typeface="Segoe UI"/>
              </a:rPr>
              <a:t>ISRO 30s locomotive GPS and track signal relays are private CRIS systems unavailable to external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9075" y="2257425"/>
            <a:ext cx="3419475" cy="11049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/>
            <a:r>
              <a:rPr b="1" sz="869">
                <a:solidFill>
                  <a:srgbClr val="B91C1C"/>
                </a:solidFill>
                <a:latin typeface="Segoe UI"/>
              </a:rPr>
              <a:t>⚠ Extreme 12–24h Delays &amp; No Early Departures
</a:t>
            </a:r>
            <a:r>
              <a:rPr b="0" sz="825">
                <a:solidFill>
                  <a:srgbClr val="0F172A"/>
                </a:solidFill>
                <a:latin typeface="Segoe UI"/>
              </a:rPr>
              <a:t>Heavy delay outliers skew simple averages, while early trains must wait at stations until Scheduled Departure (</a:t>
            </a:r>
            <a:r>
              <a:rPr b="1" sz="825">
                <a:solidFill>
                  <a:srgbClr val="0F172A"/>
                </a:solidFill>
                <a:latin typeface="Segoe UI"/>
              </a:rPr>
              <a:t>STD</a:t>
            </a:r>
            <a:r>
              <a:rPr b="0" sz="825">
                <a:solidFill>
                  <a:srgbClr val="0F172A"/>
                </a:solidFill>
                <a:latin typeface="Segoe UI"/>
              </a:rPr>
              <a:t>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9075" y="3448050"/>
            <a:ext cx="3419475" cy="11049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/>
            <a:r>
              <a:rPr b="1" sz="869">
                <a:solidFill>
                  <a:srgbClr val="B91C1C"/>
                </a:solidFill>
                <a:latin typeface="Segoe UI"/>
              </a:rPr>
              <a:t>⚠ Domino Congestion &amp; Platform Clashes
</a:t>
            </a:r>
            <a:r>
              <a:rPr b="0" sz="825">
                <a:solidFill>
                  <a:srgbClr val="0F172A"/>
                </a:solidFill>
                <a:latin typeface="Segoe UI"/>
              </a:rPr>
              <a:t>Standard AI predicts trains in isolation—putting two trains on Platform 1 at the exact same minute.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9075" y="4638675"/>
            <a:ext cx="3419475" cy="11049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/>
            <a:r>
              <a:rPr b="1" sz="869">
                <a:solidFill>
                  <a:srgbClr val="B91C1C"/>
                </a:solidFill>
                <a:latin typeface="Segoe UI"/>
              </a:rPr>
              <a:t>⚠ Unpredicted Accidents &amp; Renamed Stations
</a:t>
            </a:r>
            <a:r>
              <a:rPr b="0" sz="825">
                <a:solidFill>
                  <a:srgbClr val="0F172A"/>
                </a:solidFill>
                <a:latin typeface="Segoe UI"/>
              </a:rPr>
              <a:t>Sudden derailments/accidents cannot be predicted from history alone; renamed stations (</a:t>
            </a:r>
            <a:r>
              <a:rPr b="1" sz="825">
                <a:solidFill>
                  <a:srgbClr val="0F172A"/>
                </a:solidFill>
                <a:latin typeface="Segoe UI"/>
              </a:rPr>
              <a:t>ALD➔PRYJ</a:t>
            </a:r>
            <a:r>
              <a:rPr b="0" sz="825">
                <a:solidFill>
                  <a:srgbClr val="0F172A"/>
                </a:solidFill>
                <a:latin typeface="Segoe UI"/>
              </a:rPr>
              <a:t>) break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0" y="1428750"/>
            <a:ext cx="419100" cy="2667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0000" y="2619374"/>
            <a:ext cx="419100" cy="2667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0" y="3810000"/>
            <a:ext cx="419100" cy="2667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20000" y="5000625"/>
            <a:ext cx="419100" cy="2667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3875" y="666750"/>
            <a:ext cx="3762374" cy="5286375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39124" y="742950"/>
            <a:ext cx="3571875" cy="247649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75">
                <a:solidFill>
                  <a:srgbClr val="FFFFFF"/>
                </a:solidFill>
                <a:latin typeface="Segoe UI"/>
              </a:defRPr>
            </a:pPr>
            <a:r>
              <a:t>3. HOW DARPAN SOLVES THEM (1:1)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39124" y="1066800"/>
            <a:ext cx="3571875" cy="11049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/>
            <a:r>
              <a:rPr b="1" sz="869">
                <a:solidFill>
                  <a:srgbClr val="1D4ED8"/>
                </a:solidFill>
                <a:latin typeface="Segoe UI"/>
              </a:rPr>
              <a:t>🛡️ 4-Source Public Failover + 704 Cabin Queue Math
</a:t>
            </a:r>
            <a:r>
              <a:rPr b="0" sz="825">
                <a:solidFill>
                  <a:srgbClr val="0F172A"/>
                </a:solidFill>
                <a:latin typeface="Segoe UI"/>
              </a:rPr>
              <a:t>Cascades across </a:t>
            </a:r>
            <a:r>
              <a:rPr b="1" sz="825">
                <a:solidFill>
                  <a:srgbClr val="0F172A"/>
                </a:solidFill>
                <a:latin typeface="Segoe UI"/>
              </a:rPr>
              <a:t>ConfirmTkt/NTES/eRail</a:t>
            </a:r>
            <a:r>
              <a:rPr b="0" sz="825">
                <a:solidFill>
                  <a:srgbClr val="0F172A"/>
                </a:solidFill>
                <a:latin typeface="Segoe UI"/>
              </a:rPr>
              <a:t> + predicts outer-signal wait times across </a:t>
            </a:r>
            <a:r>
              <a:rPr b="1" sz="825">
                <a:solidFill>
                  <a:srgbClr val="0F172A"/>
                </a:solidFill>
                <a:latin typeface="Segoe UI"/>
              </a:rPr>
              <a:t>704 mapped Approach Cabins.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9124" y="2257425"/>
            <a:ext cx="3571875" cy="11049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/>
            <a:r>
              <a:rPr b="1" sz="869">
                <a:solidFill>
                  <a:srgbClr val="1D4ED8"/>
                </a:solidFill>
                <a:latin typeface="Segoe UI"/>
              </a:rPr>
              <a:t>🛡️ P10/P50/P90 Window AI + Schedule Clamp
</a:t>
            </a:r>
            <a:r>
              <a:rPr b="0" sz="825">
                <a:solidFill>
                  <a:srgbClr val="0F172A"/>
                </a:solidFill>
                <a:latin typeface="Segoe UI"/>
              </a:rPr>
              <a:t>Asymmetric quantile AI clamped at </a:t>
            </a:r>
            <a:r>
              <a:rPr b="1" sz="825">
                <a:solidFill>
                  <a:srgbClr val="0F172A"/>
                </a:solidFill>
                <a:latin typeface="Segoe UI"/>
              </a:rPr>
              <a:t>STD</a:t>
            </a:r>
            <a:r>
              <a:rPr b="0" sz="825">
                <a:solidFill>
                  <a:srgbClr val="0F172A"/>
                </a:solidFill>
                <a:latin typeface="Segoe UI"/>
              </a:rPr>
              <a:t> cuts typical error from </a:t>
            </a:r>
            <a:r>
              <a:rPr b="1" sz="825">
                <a:solidFill>
                  <a:srgbClr val="0F172A"/>
                </a:solidFill>
                <a:latin typeface="Segoe UI"/>
              </a:rPr>
              <a:t>4.93m to 1.49m (-70%)</a:t>
            </a:r>
            <a:r>
              <a:rPr b="0" sz="825">
                <a:solidFill>
                  <a:srgbClr val="0F172A"/>
                </a:solidFill>
                <a:latin typeface="Segoe UI"/>
              </a:rPr>
              <a:t> with </a:t>
            </a:r>
            <a:r>
              <a:rPr b="1" sz="825">
                <a:solidFill>
                  <a:srgbClr val="0F172A"/>
                </a:solidFill>
                <a:latin typeface="Segoe UI"/>
              </a:rPr>
              <a:t>85.3% window coverage.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39124" y="3448050"/>
            <a:ext cx="3571875" cy="11049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/>
            <a:r>
              <a:rPr b="1" sz="869">
                <a:solidFill>
                  <a:srgbClr val="1D4ED8"/>
                </a:solidFill>
                <a:latin typeface="Segoe UI"/>
              </a:rPr>
              <a:t>🛡️ Zero-Clash Platform Assigner + Overtaking Rules
</a:t>
            </a:r>
            <a:r>
              <a:rPr b="1" sz="825">
                <a:solidFill>
                  <a:srgbClr val="0F172A"/>
                </a:solidFill>
                <a:latin typeface="Segoe UI"/>
              </a:rPr>
              <a:t>IntervalTree</a:t>
            </a:r>
            <a:r>
              <a:rPr b="0" sz="825">
                <a:solidFill>
                  <a:srgbClr val="0F172A"/>
                </a:solidFill>
                <a:latin typeface="Segoe UI"/>
              </a:rPr>
              <a:t> enforces 5-min platform gaps, </a:t>
            </a:r>
            <a:r>
              <a:rPr b="1" sz="825">
                <a:solidFill>
                  <a:srgbClr val="0F172A"/>
                </a:solidFill>
                <a:latin typeface="Segoe UI"/>
              </a:rPr>
              <a:t>COA 6-Tier priority overtaking</a:t>
            </a:r>
            <a:r>
              <a:rPr b="0" sz="825">
                <a:solidFill>
                  <a:srgbClr val="0F172A"/>
                </a:solidFill>
                <a:latin typeface="Segoe UI"/>
              </a:rPr>
              <a:t>, &amp; following-train headway cascades.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39124" y="4638675"/>
            <a:ext cx="3571875" cy="11049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/>
            <a:r>
              <a:rPr b="1" sz="869">
                <a:solidFill>
                  <a:srgbClr val="1D4ED8"/>
                </a:solidFill>
                <a:latin typeface="Segoe UI"/>
              </a:rPr>
              <a:t>🛡️ Manual Accident Input + 25kV Detour + Code Bridge
</a:t>
            </a:r>
            <a:r>
              <a:rPr b="0" sz="825">
                <a:solidFill>
                  <a:srgbClr val="0F172A"/>
                </a:solidFill>
                <a:latin typeface="Segoe UI"/>
              </a:rPr>
              <a:t>1-Click Operator Accident Input (</a:t>
            </a:r>
            <a:r>
              <a:rPr b="1" sz="825">
                <a:solidFill>
                  <a:srgbClr val="0F172A"/>
                </a:solidFill>
                <a:latin typeface="Segoe UI"/>
              </a:rPr>
              <a:t>POST /v1/deta/incidents</a:t>
            </a:r>
            <a:r>
              <a:rPr b="0" sz="825">
                <a:solidFill>
                  <a:srgbClr val="0F172A"/>
                </a:solidFill>
                <a:latin typeface="Segoe UI"/>
              </a:rPr>
              <a:t>) triggers </a:t>
            </a:r>
            <a:r>
              <a:rPr b="1" sz="825">
                <a:solidFill>
                  <a:srgbClr val="0F172A"/>
                </a:solidFill>
                <a:latin typeface="Segoe UI"/>
              </a:rPr>
              <a:t>25kV detours</a:t>
            </a:r>
            <a:r>
              <a:rPr b="0" sz="825">
                <a:solidFill>
                  <a:srgbClr val="0F172A"/>
                </a:solidFill>
                <a:latin typeface="Segoe UI"/>
              </a:rPr>
              <a:t> in &lt;5ms; rescues </a:t>
            </a:r>
            <a:r>
              <a:rPr b="1" sz="825">
                <a:solidFill>
                  <a:srgbClr val="0F172A"/>
                </a:solidFill>
                <a:latin typeface="Segoe UI"/>
              </a:rPr>
              <a:t>72.5K alias rows.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6700" y="6038850"/>
            <a:ext cx="11658600" cy="3429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b="1" sz="900">
                <a:solidFill>
                  <a:srgbClr val="0F172A"/>
                </a:solidFill>
                <a:latin typeface="Segoe UI"/>
              </a:rPr>
              <a:t>❖ Live Portal: </a:t>
            </a:r>
            <a:r>
              <a:rPr b="1" sz="900" u="sng">
                <a:solidFill>
                  <a:srgbClr val="1D4ED8"/>
                </a:solidFill>
                <a:latin typeface="Segoe UI"/>
                <a:hlinkClick r:id="rId4"/>
              </a:rPr>
              <a:t>https://team-twarit-sih26028.vercel.app</a:t>
            </a:r>
            <a:r>
              <a:rPr b="1" sz="900">
                <a:solidFill>
                  <a:srgbClr val="0F172A"/>
                </a:solidFill>
                <a:latin typeface="Segoe UI"/>
              </a:rPr>
              <a:t>   ❖ Demo Video: </a:t>
            </a:r>
            <a:r>
              <a:rPr b="1" sz="900" u="sng">
                <a:solidFill>
                  <a:srgbClr val="1D4ED8"/>
                </a:solidFill>
                <a:latin typeface="Segoe UI"/>
                <a:hlinkClick r:id="rId5"/>
              </a:rPr>
              <a:t>Google Drive Demo Link</a:t>
            </a:r>
            <a:r>
              <a:rPr b="1" sz="862">
                <a:solidFill>
                  <a:srgbClr val="475569"/>
                </a:solidFill>
                <a:latin typeface="Segoe UI"/>
              </a:rPr>
              <a:t>   🔗 [Click on blue texts to open link]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1450" y="133350"/>
            <a:ext cx="1181100" cy="6096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5C4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Twarit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57150"/>
            <a:ext cx="1066800" cy="64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133350"/>
            <a:ext cx="9429750" cy="476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550" b="1">
                <a:solidFill>
                  <a:srgbClr val="0F172A"/>
                </a:solidFill>
                <a:latin typeface="Segoe UI"/>
              </a:defRPr>
            </a:pPr>
            <a:r>
              <a:t>IMPACT AND 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150"/>
            <a:ext cx="12192000" cy="323850"/>
          </a:xfrm>
          <a:prstGeom prst="rect">
            <a:avLst/>
          </a:prstGeom>
          <a:solidFill>
            <a:srgbClr val="0C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12">
                <a:solidFill>
                  <a:srgbClr val="FFFFF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4150"/>
            <a:ext cx="571500" cy="32385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6700" y="647700"/>
            <a:ext cx="2781300" cy="1666875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>
              <a:spcAft>
                <a:spcPts val="400"/>
              </a:spcAft>
              <a:defRPr b="1" sz="937">
                <a:solidFill>
                  <a:srgbClr val="173F70"/>
                </a:solidFill>
                <a:latin typeface="Segoe UI"/>
              </a:defRPr>
            </a:pPr>
            <a:r>
              <a:t>1. PASSENGERS (APP &amp; PNR)</a:t>
            </a:r>
          </a:p>
          <a:p>
            <a:pPr>
              <a:spcAft>
                <a:spcPts val="400"/>
              </a:spcAft>
            </a:pPr>
            <a:r>
              <a:rPr b="0" sz="839">
                <a:solidFill>
                  <a:srgbClr val="0F172A"/>
                </a:solidFill>
                <a:latin typeface="Segoe UI"/>
              </a:rPr>
              <a:t>❖ Shows </a:t>
            </a:r>
            <a:r>
              <a:rPr b="1" sz="839">
                <a:solidFill>
                  <a:srgbClr val="0F172A"/>
                </a:solidFill>
                <a:latin typeface="Segoe UI"/>
              </a:rPr>
              <a:t>Best (P10), Expected (P50), &amp; Worst-Case (P90)</a:t>
            </a:r>
            <a:r>
              <a:rPr b="0" sz="839">
                <a:solidFill>
                  <a:srgbClr val="0F172A"/>
                </a:solidFill>
                <a:latin typeface="Segoe UI"/>
              </a:rPr>
              <a:t> arrival times instead of a single guess.
❖ Displays exact </a:t>
            </a:r>
            <a:r>
              <a:rPr b="1" sz="839">
                <a:solidFill>
                  <a:srgbClr val="0F172A"/>
                </a:solidFill>
                <a:latin typeface="Segoe UI"/>
              </a:rPr>
              <a:t>buffer time recovered (-14m)</a:t>
            </a:r>
            <a:r>
              <a:rPr b="0" sz="839">
                <a:solidFill>
                  <a:srgbClr val="0F172A"/>
                </a:solidFill>
                <a:latin typeface="Segoe UI"/>
              </a:rPr>
              <a:t>, fog speed alerts, &amp; privacy-safe 10-digit PNR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950" y="2047875"/>
            <a:ext cx="2590800" cy="20955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87">
                <a:solidFill>
                  <a:srgbClr val="1D4ED8"/>
                </a:solidFill>
                <a:latin typeface="Consolas"/>
              </a:defRPr>
            </a:pPr>
            <a:r>
              <a:t>85.3% Window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647700"/>
            <a:ext cx="2781300" cy="1666875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>
              <a:spcAft>
                <a:spcPts val="400"/>
              </a:spcAft>
              <a:defRPr b="1" sz="937">
                <a:solidFill>
                  <a:srgbClr val="173F70"/>
                </a:solidFill>
                <a:latin typeface="Segoe UI"/>
              </a:defRPr>
            </a:pPr>
            <a:r>
              <a:t>2. STATION MASTERS (PLATFORMS)</a:t>
            </a:r>
          </a:p>
          <a:p>
            <a:pPr>
              <a:spcAft>
                <a:spcPts val="400"/>
              </a:spcAft>
            </a:pPr>
            <a:r>
              <a:rPr b="0" sz="839">
                <a:solidFill>
                  <a:srgbClr val="0F172A"/>
                </a:solidFill>
                <a:latin typeface="Segoe UI"/>
              </a:rPr>
              <a:t>❖ </a:t>
            </a:r>
            <a:r>
              <a:rPr b="1" sz="839">
                <a:solidFill>
                  <a:srgbClr val="0F172A"/>
                </a:solidFill>
                <a:latin typeface="Segoe UI"/>
              </a:rPr>
              <a:t>Zero-Clash Platform Assigner</a:t>
            </a:r>
            <a:r>
              <a:rPr b="0" sz="839">
                <a:solidFill>
                  <a:srgbClr val="0F172A"/>
                </a:solidFill>
                <a:latin typeface="Segoe UI"/>
              </a:rPr>
              <a:t> enforces 5-min safety gaps &amp; warns of </a:t>
            </a:r>
            <a:r>
              <a:rPr b="1" sz="839">
                <a:solidFill>
                  <a:srgbClr val="0F172A"/>
                </a:solidFill>
                <a:latin typeface="Segoe UI"/>
              </a:rPr>
              <a:t>OUTER HOLD +12m</a:t>
            </a:r>
            <a:r>
              <a:rPr b="0" sz="839">
                <a:solidFill>
                  <a:srgbClr val="0F172A"/>
                </a:solidFill>
                <a:latin typeface="Segoe UI"/>
              </a:rPr>
              <a:t> delays early.
❖ Predicts </a:t>
            </a:r>
            <a:r>
              <a:rPr b="1" sz="839">
                <a:solidFill>
                  <a:srgbClr val="0F172A"/>
                </a:solidFill>
                <a:latin typeface="Segoe UI"/>
              </a:rPr>
              <a:t>Festival Crowd Dwell Surges</a:t>
            </a:r>
            <a:r>
              <a:rPr b="0" sz="839">
                <a:solidFill>
                  <a:srgbClr val="0F172A"/>
                </a:solidFill>
                <a:latin typeface="Segoe UI"/>
              </a:rPr>
              <a:t> (Maha Kumbh 3.2x) for cleaning, crew &amp; cab/bus planning.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5650" y="2047875"/>
            <a:ext cx="2590800" cy="20955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87">
                <a:solidFill>
                  <a:srgbClr val="1D4ED8"/>
                </a:solidFill>
                <a:latin typeface="Consolas"/>
              </a:defRPr>
            </a:pPr>
            <a:r>
              <a:t>704 Approach Cabins Mapped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4100" y="647700"/>
            <a:ext cx="2781300" cy="1666875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>
              <a:spcAft>
                <a:spcPts val="400"/>
              </a:spcAft>
              <a:defRPr b="1" sz="937">
                <a:solidFill>
                  <a:srgbClr val="173F70"/>
                </a:solidFill>
                <a:latin typeface="Segoe UI"/>
              </a:defRPr>
            </a:pPr>
            <a:r>
              <a:t>3. CONTROL ROOMS (MANUAL OPS)</a:t>
            </a:r>
          </a:p>
          <a:p>
            <a:pPr>
              <a:spcAft>
                <a:spcPts val="400"/>
              </a:spcAft>
            </a:pPr>
            <a:r>
              <a:rPr b="0" sz="839">
                <a:solidFill>
                  <a:srgbClr val="0F172A"/>
                </a:solidFill>
                <a:latin typeface="Segoe UI"/>
              </a:rPr>
              <a:t>❖ </a:t>
            </a:r>
            <a:r>
              <a:rPr b="1" sz="839">
                <a:solidFill>
                  <a:srgbClr val="0F172A"/>
                </a:solidFill>
                <a:latin typeface="Segoe UI"/>
              </a:rPr>
              <a:t>Manual Accident Override Input:</a:t>
            </a:r>
            <a:r>
              <a:rPr b="0" sz="839">
                <a:solidFill>
                  <a:srgbClr val="0F172A"/>
                </a:solidFill>
                <a:latin typeface="Segoe UI"/>
              </a:rPr>
              <a:t> Operators inject unpredicted accidents (Derailment, Cattle Hit, Wire Snap).
❖ Instantly recomputes downstream domino ETAs &amp; </a:t>
            </a:r>
            <a:r>
              <a:rPr b="1" sz="839">
                <a:solidFill>
                  <a:srgbClr val="0F172A"/>
                </a:solidFill>
                <a:latin typeface="Segoe UI"/>
              </a:rPr>
              <a:t>25kV Electrified Detour Routes</a:t>
            </a:r>
            <a:r>
              <a:rPr b="0" sz="839">
                <a:solidFill>
                  <a:srgbClr val="0F172A"/>
                </a:solidFill>
                <a:latin typeface="Segoe UI"/>
              </a:rPr>
              <a:t> (Yen's K-Path).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9350" y="2047875"/>
            <a:ext cx="2590800" cy="20955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87">
                <a:solidFill>
                  <a:srgbClr val="1D4ED8"/>
                </a:solidFill>
                <a:latin typeface="Consolas"/>
              </a:defRPr>
            </a:pPr>
            <a:r>
              <a:t>Manual Accident + 25kV Detour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67800" y="647700"/>
            <a:ext cx="2781300" cy="1666875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/>
          <a:lstStyle/>
          <a:p>
            <a:pPr algn="ctr">
              <a:spcAft>
                <a:spcPts val="400"/>
              </a:spcAft>
              <a:defRPr b="1" sz="937">
                <a:solidFill>
                  <a:srgbClr val="173F70"/>
                </a:solidFill>
                <a:latin typeface="Segoe UI"/>
              </a:defRPr>
            </a:pPr>
            <a:r>
              <a:t>4. SELF-LEARNING RAILWAY API</a:t>
            </a:r>
          </a:p>
          <a:p>
            <a:pPr>
              <a:spcAft>
                <a:spcPts val="400"/>
              </a:spcAft>
            </a:pPr>
            <a:r>
              <a:rPr b="0" sz="839">
                <a:solidFill>
                  <a:srgbClr val="0F172A"/>
                </a:solidFill>
                <a:latin typeface="Segoe UI"/>
              </a:rPr>
              <a:t>❖ Fast </a:t>
            </a:r>
            <a:r>
              <a:rPr b="1" sz="839">
                <a:solidFill>
                  <a:srgbClr val="0F172A"/>
                </a:solidFill>
                <a:latin typeface="Segoe UI"/>
              </a:rPr>
              <a:t>/v1/deta/*</a:t>
            </a:r>
            <a:r>
              <a:rPr b="0" sz="839">
                <a:solidFill>
                  <a:srgbClr val="0F172A"/>
                </a:solidFill>
                <a:latin typeface="Segoe UI"/>
              </a:rPr>
              <a:t> REST APIs + </a:t>
            </a:r>
            <a:r>
              <a:rPr b="1" sz="839">
                <a:solidFill>
                  <a:srgbClr val="0F172A"/>
                </a:solidFill>
                <a:latin typeface="Segoe UI"/>
              </a:rPr>
              <a:t>24x7 Self-Growing DB</a:t>
            </a:r>
            <a:r>
              <a:rPr b="0" sz="839">
                <a:solidFill>
                  <a:srgbClr val="0F172A"/>
                </a:solidFill>
                <a:latin typeface="Segoe UI"/>
              </a:rPr>
              <a:t> that scrapes runs &amp; learns from prediction feedback.
❖ Tags every value with honest source (live/cache/schedule) at </a:t>
            </a:r>
            <a:r>
              <a:rPr b="1" sz="839">
                <a:solidFill>
                  <a:srgbClr val="0F172A"/>
                </a:solidFill>
                <a:latin typeface="Segoe UI"/>
              </a:rPr>
              <a:t>&lt;1.5ms cached latency</a:t>
            </a:r>
            <a:r>
              <a:rPr b="0" sz="839">
                <a:solidFill>
                  <a:srgbClr val="0F172A"/>
                </a:solidFill>
                <a:latin typeface="Segoe UI"/>
              </a:rPr>
              <a:t> across 17 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3050" y="2047875"/>
            <a:ext cx="2590800" cy="20955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87">
                <a:solidFill>
                  <a:srgbClr val="1D4ED8"/>
                </a:solidFill>
                <a:latin typeface="Consolas"/>
              </a:defRPr>
            </a:pPr>
            <a:r>
              <a:t>MedAE: 1.49m (-70% Error)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6700" y="2362200"/>
            <a:ext cx="3762374" cy="62865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>
              <a:spcAft>
                <a:spcPts val="200"/>
              </a:spcAft>
              <a:defRPr b="1" sz="885">
                <a:solidFill>
                  <a:srgbClr val="173F70"/>
                </a:solidFill>
                <a:latin typeface="Segoe UI"/>
              </a:defRPr>
            </a:pPr>
            <a:r>
              <a:t>👥 SOCIAL IMPACT (2.4 Cr Daily Passengers)</a:t>
            </a:r>
          </a:p>
          <a:p>
            <a:pPr>
              <a:defRPr sz="810">
                <a:solidFill>
                  <a:srgbClr val="0F172A"/>
                </a:solidFill>
                <a:latin typeface="Segoe UI"/>
              </a:defRPr>
            </a:pPr>
            <a:r>
              <a:t>Eliminates platform waiting anxiety &amp; missed train connections; improves station crowd safety during festivals.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050" y="2362200"/>
            <a:ext cx="3762374" cy="62865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>
              <a:spcAft>
                <a:spcPts val="200"/>
              </a:spcAft>
              <a:defRPr b="1" sz="885">
                <a:solidFill>
                  <a:srgbClr val="15803D"/>
                </a:solidFill>
                <a:latin typeface="Segoe UI"/>
              </a:defRPr>
            </a:pPr>
            <a:r>
              <a:t>💰 ECONOMIC IMPACT (₹120+ Cr Capex Saved)</a:t>
            </a:r>
          </a:p>
          <a:p>
            <a:pPr>
              <a:defRPr sz="810">
                <a:solidFill>
                  <a:srgbClr val="0F172A"/>
                </a:solidFill>
                <a:latin typeface="Segoe UI"/>
              </a:defRPr>
            </a:pPr>
            <a:r>
              <a:t>Boosts throughput on &gt;100% congested trunk lines with zero new hardware; cuts crew overtime &amp; rake detention.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3399" y="2362200"/>
            <a:ext cx="3762374" cy="628650"/>
          </a:xfrm>
          <a:prstGeom prst="round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>
              <a:spcAft>
                <a:spcPts val="200"/>
              </a:spcAft>
              <a:defRPr b="1" sz="885">
                <a:solidFill>
                  <a:srgbClr val="D97706"/>
                </a:solidFill>
                <a:latin typeface="Segoe UI"/>
              </a:defRPr>
            </a:pPr>
            <a:r>
              <a:t>🌱 ENVIRONMENTAL &amp; ENERGY IMPACT</a:t>
            </a:r>
          </a:p>
          <a:p>
            <a:pPr>
              <a:defRPr sz="810">
                <a:solidFill>
                  <a:srgbClr val="0F172A"/>
                </a:solidFill>
                <a:latin typeface="Segoe UI"/>
              </a:defRPr>
            </a:pPr>
            <a:r>
              <a:t>Prevents unscheduled outer-signal stops of 24-coach rakes, saving 150–200 kWh power / 35–50L diesel per stop.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6700" y="3028950"/>
            <a:ext cx="7620000" cy="2286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b="1" sz="885">
                <a:solidFill>
                  <a:srgbClr val="0F172A"/>
                </a:solidFill>
                <a:latin typeface="Segoe UI"/>
              </a:defRPr>
            </a:pPr>
            <a:r>
              <a:t>How DARPAN Beats Existing Railway Formulas, Consumer Apps &amp; Academic Models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1999" y="3028950"/>
            <a:ext cx="3543300" cy="1905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735">
                <a:solidFill>
                  <a:srgbClr val="15803D"/>
                </a:solidFill>
                <a:latin typeface="Consolas"/>
              </a:defRPr>
            </a:pPr>
            <a:r>
              <a:t>Self-Growing DB + Manual Accident Override Included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66700" y="3257550"/>
          <a:ext cx="1165860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24000"/>
                <a:gridCol w="1619250"/>
                <a:gridCol w="1619250"/>
                <a:gridCol w="1619250"/>
                <a:gridCol w="1524000"/>
                <a:gridCol w="1466850"/>
              </a:tblGrid>
              <a:tr h="523875"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System / Baseline</a:t>
                      </a:r>
                    </a:p>
                  </a:txBody>
                  <a:tcPr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Arrival Window (P10/P50/P90)</a:t>
                      </a:r>
                    </a:p>
                  </a:txBody>
                  <a:tcPr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Fog &amp; Track-Heat Speed Rules</a:t>
                      </a:r>
                    </a:p>
                  </a:txBody>
                  <a:tcPr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Overtaking &amp; Domino Delay</a:t>
                      </a:r>
                    </a:p>
                  </a:txBody>
                  <a:tcPr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Zero-Clash Platform &amp; Outer Hold</a:t>
                      </a:r>
                    </a:p>
                  </a:txBody>
                  <a:tcPr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Self-Growing DB &amp; Manual Accident Ops</a:t>
                      </a:r>
                    </a:p>
                  </a:txBody>
                  <a:tcPr anchor="ctr">
                    <a:solidFill>
                      <a:srgbClr val="112A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Typical Error (MedAE) &amp; Score</a:t>
                      </a:r>
                    </a:p>
                  </a:txBody>
                  <a:tcPr anchor="ctr">
                    <a:solidFill>
                      <a:srgbClr val="112A46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b="1" sz="825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Old Railway Formula (STA + Delay − Buffer)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Single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Isolated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Static 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4.93m (1/6) 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b="1" sz="825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Consumer Apps (Where Is My Train / NTES)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~ Single Time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None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Isolated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Unaware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Read-Only App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Linear (1.5/6) 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b="1" sz="825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Academic GNN (IIT-KGP RSTGCN, 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Hourly Stn Avg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No Weather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~ Station Graph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No Platforms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Frozen CSV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Stn Avg (2/6) 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b="1" sz="825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Other SIH Repos (Simulated / Basic ML)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~ Synthetic CI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Month Lookup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No Overtaking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Platform Clashes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✕ No Feedback DB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825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Synthetic (2.5/6) 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>
                        <a:defRPr b="1" sz="825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DARPAN (Team Twarit — SIH26028) 🏆 BEST 6/6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✓ P10 / P50 / P90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✓ 3.19M Wx + G&amp;SR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✓ COA + FIFO Graph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✓ 704 Cabins + Tree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✓ Auto-Scrape + Ops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25">
                          <a:solidFill>
                            <a:srgbClr val="15803D"/>
                          </a:solidFill>
                          <a:latin typeface="Segoe UI"/>
                        </a:defRPr>
                      </a:pPr>
                      <a:r>
                        <a:t>1.49m (6/6) 🟢 🏆</a:t>
                      </a:r>
                    </a:p>
                  </a:txBody>
                  <a:tcPr anchor="ctr">
                    <a:solidFill>
                      <a:srgbClr val="FEF9C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71450" y="133350"/>
            <a:ext cx="1181100" cy="609600"/>
          </a:xfrm>
          <a:prstGeom prst="ellipse">
            <a:avLst/>
          </a:prstGeom>
          <a:solidFill>
            <a:srgbClr val="FFFFFF"/>
          </a:solidFill>
          <a:ln w="27940">
            <a:solidFill>
              <a:srgbClr val="5C4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293B"/>
                </a:solidFill>
                <a:latin typeface="Segoe UI"/>
              </a:defRPr>
            </a:pPr>
            <a:r>
              <a:t>Twarit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0" y="57150"/>
            <a:ext cx="1066800" cy="647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1125" y="133350"/>
            <a:ext cx="9429750" cy="47625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2550" b="1">
                <a:solidFill>
                  <a:srgbClr val="0F172A"/>
                </a:solidFill>
                <a:latin typeface="Segoe UI"/>
              </a:defRPr>
            </a:pPr>
            <a:r>
              <a:t>RESEARCH AND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4150"/>
            <a:ext cx="12192000" cy="323850"/>
          </a:xfrm>
          <a:prstGeom prst="rect">
            <a:avLst/>
          </a:prstGeom>
          <a:solidFill>
            <a:srgbClr val="0C6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12">
                <a:solidFill>
                  <a:srgbClr val="FFFFFF"/>
                </a:solidFill>
                <a:latin typeface="Segoe UI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4150"/>
            <a:ext cx="571500" cy="32385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6700" y="666750"/>
            <a:ext cx="5715000" cy="533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950" y="742950"/>
            <a:ext cx="5524500" cy="247649"/>
          </a:xfrm>
          <a:prstGeom prst="round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75">
                <a:solidFill>
                  <a:srgbClr val="FFFFFF"/>
                </a:solidFill>
                <a:latin typeface="Segoe UI"/>
              </a:defRPr>
            </a:pPr>
            <a:r>
              <a:t>VERIFIED RAILWAY AUDITS, PAPERS &amp; CLICKABLE 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950" y="1028700"/>
            <a:ext cx="5524500" cy="104774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>
              <a:spcAft>
                <a:spcPts val="200"/>
              </a:spcAft>
              <a:defRPr b="1" sz="885">
                <a:solidFill>
                  <a:srgbClr val="1D4ED8"/>
                </a:solidFill>
                <a:latin typeface="Segoe UI"/>
              </a:defRPr>
            </a:pPr>
            <a:r>
              <a:t>1. Indian Railways CAG Audit &amp; Official Operating Rules (G&amp;SR)</a:t>
            </a:r>
          </a:p>
          <a:p>
            <a:r>
              <a:rPr b="1" sz="810">
                <a:solidFill>
                  <a:srgbClr val="1D4ED8"/>
                </a:solidFill>
                <a:latin typeface="Segoe UI"/>
              </a:rPr>
              <a:t>• CAG Report No. 22 of 2021 (Para 2.1): </a:t>
            </a:r>
            <a:r>
              <a:rPr b="0" sz="810">
                <a:solidFill>
                  <a:srgbClr val="0F172A"/>
                </a:solidFill>
                <a:latin typeface="Segoe UI"/>
              </a:rPr>
              <a:t>Proves fixed Engineering &amp; Traffic Recovery buffers fail on </a:t>
            </a:r>
            <a:r>
              <a:rPr b="1" sz="810">
                <a:solidFill>
                  <a:srgbClr val="0F172A"/>
                </a:solidFill>
                <a:latin typeface="Segoe UI"/>
              </a:rPr>
              <a:t>&gt;100% congested High-Density Network (HDN)</a:t>
            </a:r>
            <a:r>
              <a:rPr b="0" sz="810">
                <a:solidFill>
                  <a:srgbClr val="0F172A"/>
                </a:solidFill>
                <a:latin typeface="Segoe UI"/>
              </a:rPr>
              <a:t> corridors.
</a:t>
            </a:r>
            <a:r>
              <a:rPr b="1" sz="810">
                <a:solidFill>
                  <a:srgbClr val="1D4ED8"/>
                </a:solidFill>
                <a:latin typeface="Segoe UI"/>
              </a:rPr>
              <a:t>• Indian Railways G&amp;SR Rule 3.61 &amp; Track Manual Para 5.2: </a:t>
            </a:r>
            <a:r>
              <a:rPr b="0" sz="810">
                <a:solidFill>
                  <a:srgbClr val="0F172A"/>
                </a:solidFill>
                <a:latin typeface="Segoe UI"/>
              </a:rPr>
              <a:t>Official Fog-Pass GPS speed caps (</a:t>
            </a:r>
            <a:r>
              <a:rPr b="1" sz="810">
                <a:solidFill>
                  <a:srgbClr val="0F172A"/>
                </a:solidFill>
                <a:latin typeface="Segoe UI"/>
              </a:rPr>
              <a:t>75 km/h with FPD vs 60 km/h standard</a:t>
            </a:r>
            <a:r>
              <a:rPr b="0" sz="810">
                <a:solidFill>
                  <a:srgbClr val="0F172A"/>
                </a:solidFill>
                <a:latin typeface="Segoe UI"/>
              </a:rPr>
              <a:t>) &amp; </a:t>
            </a:r>
            <a:r>
              <a:rPr b="1" sz="810">
                <a:solidFill>
                  <a:srgbClr val="0F172A"/>
                </a:solidFill>
                <a:latin typeface="Segoe UI"/>
              </a:rPr>
              <a:t>60°C track-heat</a:t>
            </a:r>
            <a:r>
              <a:rPr b="0" sz="810">
                <a:solidFill>
                  <a:srgbClr val="0F172A"/>
                </a:solidFill>
                <a:latin typeface="Segoe UI"/>
              </a:rPr>
              <a:t> limits.
</a:t>
            </a:r>
            <a:r>
              <a:rPr b="0" sz="810">
                <a:solidFill>
                  <a:srgbClr val="64748B"/>
                </a:solidFill>
                <a:latin typeface="Segoe UI"/>
              </a:rPr>
              <a:t>Sources: cag.gov.in · indianrailways.gov.in · cris.org.in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3000" y="1066800"/>
            <a:ext cx="857250" cy="17145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660">
                <a:solidFill>
                  <a:srgbClr val="1D4ED8"/>
                </a:solidFill>
                <a:latin typeface="Consolas"/>
              </a:defRPr>
            </a:pPr>
            <a:r>
              <a:t>Govt Audits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950" y="2133600"/>
            <a:ext cx="5524500" cy="104774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>
              <a:spcAft>
                <a:spcPts val="200"/>
              </a:spcAft>
              <a:defRPr b="1" sz="885">
                <a:solidFill>
                  <a:srgbClr val="1D4ED8"/>
                </a:solidFill>
                <a:latin typeface="Segoe UI"/>
              </a:defRPr>
            </a:pPr>
            <a:r>
              <a:t>2. Machine Learning, Arrival Window Calibration &amp; Graph Routing</a:t>
            </a:r>
          </a:p>
          <a:p>
            <a:r>
              <a:rPr b="1" sz="810">
                <a:solidFill>
                  <a:srgbClr val="1D4ED8"/>
                </a:solidFill>
                <a:latin typeface="Segoe UI"/>
              </a:rPr>
              <a:t>• IIT Kharagpur Railway Graph Study (Chowdhury et al., IEEE T-ITS 2024): </a:t>
            </a:r>
            <a:r>
              <a:rPr b="0" sz="810">
                <a:solidFill>
                  <a:srgbClr val="0F172A"/>
                </a:solidFill>
                <a:latin typeface="Segoe UI"/>
              </a:rPr>
              <a:t>'RSTGCN: Spatio-Temporal Graph Convolutional Network' across 4,735 Indian stations.
</a:t>
            </a:r>
            <a:r>
              <a:rPr b="1" sz="810">
                <a:solidFill>
                  <a:srgbClr val="1D4ED8"/>
                </a:solidFill>
                <a:latin typeface="Segoe UI"/>
              </a:rPr>
              <a:t>• LightGBM Quantile GBDT (NeurIPS 2017) &amp; Conformal Quantile Regression (NeurIPS 2019): </a:t>
            </a:r>
            <a:r>
              <a:rPr b="0" sz="810">
                <a:solidFill>
                  <a:srgbClr val="0F172A"/>
                </a:solidFill>
                <a:latin typeface="Segoe UI"/>
              </a:rPr>
              <a:t>Calibrated P10/P50/P90 windows + </a:t>
            </a:r>
            <a:r>
              <a:rPr b="1" sz="810">
                <a:solidFill>
                  <a:srgbClr val="0F172A"/>
                </a:solidFill>
                <a:latin typeface="Segoe UI"/>
              </a:rPr>
              <a:t>Yen's 25kV Detours (1971)</a:t>
            </a:r>
            <a:r>
              <a:rPr b="0" sz="810">
                <a:solidFill>
                  <a:srgbClr val="0F172A"/>
                </a:solidFill>
                <a:latin typeface="Segoe UI"/>
              </a:rPr>
              <a:t>.
</a:t>
            </a:r>
            <a:r>
              <a:rPr b="0" sz="810">
                <a:solidFill>
                  <a:srgbClr val="64748B"/>
                </a:solidFill>
                <a:latin typeface="Segoe UI"/>
              </a:rPr>
              <a:t>Sources: arxiv.org/abs/2510.01262 · arxiv.org/abs/1905.03222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3000" y="2171700"/>
            <a:ext cx="857250" cy="17145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660">
                <a:solidFill>
                  <a:srgbClr val="1D4ED8"/>
                </a:solidFill>
                <a:latin typeface="Consolas"/>
              </a:defRPr>
            </a:pPr>
            <a:r>
              <a:t>Peer-Reviewed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950" y="3238500"/>
            <a:ext cx="5524500" cy="1047749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73152"/>
          <a:lstStyle/>
          <a:p>
            <a:pPr algn="ctr">
              <a:spcAft>
                <a:spcPts val="200"/>
              </a:spcAft>
              <a:defRPr b="1" sz="885">
                <a:solidFill>
                  <a:srgbClr val="1D4ED8"/>
                </a:solidFill>
                <a:latin typeface="Segoe UI"/>
              </a:defRPr>
            </a:pPr>
            <a:r>
              <a:t>3. Self-Growing 6-DB Data Lake (1.68 GB) &amp; Open Datasets</a:t>
            </a:r>
          </a:p>
          <a:p>
            <a:r>
              <a:rPr b="1" sz="810">
                <a:solidFill>
                  <a:srgbClr val="1D4ED8"/>
                </a:solidFill>
                <a:latin typeface="Segoe UI"/>
              </a:rPr>
              <a:t>• DataMeet Indian Railways Topology + stations.db: </a:t>
            </a:r>
            <a:r>
              <a:rPr b="0" sz="810">
                <a:solidFill>
                  <a:srgbClr val="0F172A"/>
                </a:solidFill>
                <a:latin typeface="Segoe UI"/>
              </a:rPr>
              <a:t>8,990 stations, 420K halts, 704 cabins + Renamed-Station Code Translator (</a:t>
            </a:r>
            <a:r>
              <a:rPr b="1" sz="810">
                <a:solidFill>
                  <a:srgbClr val="0F172A"/>
                </a:solidFill>
                <a:latin typeface="Segoe UI"/>
              </a:rPr>
              <a:t>72,508 records recovered</a:t>
            </a:r>
            <a:r>
              <a:rPr b="0" sz="810">
                <a:solidFill>
                  <a:srgbClr val="0F172A"/>
                </a:solidFill>
                <a:latin typeface="Segoe UI"/>
              </a:rPr>
              <a:t>).
</a:t>
            </a:r>
            <a:r>
              <a:rPr b="0" sz="810">
                <a:solidFill>
                  <a:srgbClr val="0F172A"/>
                </a:solidFill>
                <a:latin typeface="Segoe UI"/>
              </a:rPr>
              <a:t>• historical.db (1.51M delays, 73,342 slack profiles) + Open-Meteo Weather Grid (3.19M rows) + 24x7 SnapshotWriter feedback loop.
</a:t>
            </a:r>
            <a:r>
              <a:rPr b="0" sz="810">
                <a:solidFill>
                  <a:srgbClr val="64748B"/>
                </a:solidFill>
                <a:latin typeface="Segoe UI"/>
              </a:rPr>
              <a:t>Sources: github.com/datameet/railways · open-meteo.com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3000" y="3276600"/>
            <a:ext cx="857250" cy="17145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b="1" sz="660">
                <a:solidFill>
                  <a:srgbClr val="15803D"/>
                </a:solidFill>
                <a:latin typeface="Consolas"/>
              </a:defRPr>
            </a:pPr>
            <a:r>
              <a:t>Live &amp; Growing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950" y="4400549"/>
            <a:ext cx="5524500" cy="1476375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24375"/>
            <a:ext cx="1190625" cy="11906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62125" y="4524375"/>
            <a:ext cx="4000500" cy="1238250"/>
          </a:xfrm>
          <a:prstGeom prst="rect">
            <a:avLst/>
          </a:prstGeom>
          <a:noFill/>
        </p:spPr>
        <p:txBody>
          <a:bodyPr wrap="square" tIns="36576" lIns="73152">
            <a:spAutoFit/>
          </a:bodyPr>
          <a:lstStyle/>
          <a:p>
            <a:pPr>
              <a:spcAft>
                <a:spcPts val="400"/>
              </a:spcAft>
              <a:defRPr b="1" sz="975">
                <a:solidFill>
                  <a:srgbClr val="173F70"/>
                </a:solidFill>
                <a:latin typeface="Segoe UI"/>
              </a:defRPr>
            </a:pPr>
            <a:r>
              <a:t>📱 SCAN QR OR CLICK LINKS TO TEST LIVE PROTOTYPE</a:t>
            </a:r>
          </a:p>
          <a:p>
            <a:r>
              <a:rPr b="1" sz="839">
                <a:solidFill>
                  <a:srgbClr val="0F172A"/>
                </a:solidFill>
                <a:latin typeface="Segoe UI"/>
              </a:rPr>
              <a:t>• Live Web Portal: </a:t>
            </a:r>
            <a:r>
              <a:rPr b="1" sz="839" u="sng">
                <a:solidFill>
                  <a:srgbClr val="1D4ED8"/>
                </a:solidFill>
                <a:latin typeface="Segoe UI"/>
                <a:hlinkClick r:id="rId4"/>
              </a:rPr>
              <a:t>https://team-twarit-sih26028.vercel.app
</a:t>
            </a:r>
            <a:r>
              <a:rPr b="1" sz="839">
                <a:solidFill>
                  <a:srgbClr val="0F172A"/>
                </a:solidFill>
                <a:latin typeface="Segoe UI"/>
              </a:rPr>
              <a:t>• Demo Video: </a:t>
            </a:r>
            <a:r>
              <a:rPr b="1" sz="839" u="sng">
                <a:solidFill>
                  <a:srgbClr val="1D4ED8"/>
                </a:solidFill>
                <a:latin typeface="Segoe UI"/>
                <a:hlinkClick r:id="rId5"/>
              </a:rPr>
              <a:t>Google Drive Walkthrough
</a:t>
            </a:r>
            <a:r>
              <a:rPr sz="839">
                <a:solidFill>
                  <a:srgbClr val="0F172A"/>
                </a:solidFill>
                <a:latin typeface="Segoe UI"/>
              </a:rPr>
              <a:t>• Instant API &amp; Interactive Platform Maps across 17 Zones.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5050" y="666750"/>
            <a:ext cx="5810250" cy="5334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0300" y="742950"/>
            <a:ext cx="5619750" cy="247649"/>
          </a:xfrm>
          <a:prstGeom prst="roundRect">
            <a:avLst/>
          </a:prstGeom>
          <a:solidFill>
            <a:srgbClr val="112A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75">
                <a:solidFill>
                  <a:srgbClr val="FFFFFF"/>
                </a:solidFill>
                <a:latin typeface="Segoe UI"/>
              </a:defRPr>
            </a:pPr>
            <a:r>
              <a:t>VISUAL ANALYTICS: SELF-GROWING DB FLYWHEEL &amp; DELAY DRIVERS</a:t>
            </a:r>
          </a:p>
        </p:txBody>
      </p:sp>
      <p:pic>
        <p:nvPicPr>
          <p:cNvPr id="20" name="Picture 19" descr="flywhe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1047750"/>
            <a:ext cx="5619750" cy="2238375"/>
          </a:xfrm>
          <a:prstGeom prst="rect">
            <a:avLst/>
          </a:prstGeom>
        </p:spPr>
      </p:pic>
      <p:pic>
        <p:nvPicPr>
          <p:cNvPr id="21" name="Picture 20" descr="featur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3352800"/>
            <a:ext cx="5619750" cy="252412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266700" y="6057900"/>
            <a:ext cx="11658600" cy="34290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/>
            <a:r>
              <a:rPr b="1" sz="885">
                <a:solidFill>
                  <a:srgbClr val="173F70"/>
                </a:solidFill>
                <a:latin typeface="Segoe UI"/>
              </a:rPr>
              <a:t>🔗 [Click on blue texts to open link] — Every research study (IIT Kharagpur RSTGCN, NeurIPS), CAG Audit &amp; Live Demo URL above is directly clickable                    </a:t>
            </a:r>
            <a:r>
              <a:rPr b="1" sz="885" u="sng">
                <a:solidFill>
                  <a:srgbClr val="1D4ED8"/>
                </a:solidFill>
                <a:latin typeface="Segoe UI"/>
                <a:hlinkClick r:id="rId4"/>
              </a:rPr>
              <a:t>Open Live Portal 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